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8" r:id="rId2"/>
  </p:sldMasterIdLst>
  <p:notesMasterIdLst>
    <p:notesMasterId r:id="rId16"/>
  </p:notesMasterIdLst>
  <p:sldIdLst>
    <p:sldId id="2146846642" r:id="rId3"/>
    <p:sldId id="256" r:id="rId4"/>
    <p:sldId id="257" r:id="rId5"/>
    <p:sldId id="2146846644" r:id="rId6"/>
    <p:sldId id="258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9FFF"/>
    <a:srgbClr val="A1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20159A-66F8-4CC6-BB7D-3DDB018349CF}" v="1" dt="2025-03-06T08:12:37.0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652EB-1AD3-475A-A521-A73369DAF7B8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F3C519-617E-43DC-8CB2-0DA69DD3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558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c190bc4ce7_0_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2c190bc4ce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2b7494ca5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2b7494ca5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2b7494ca5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2b7494ca5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2b7494ca5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2b7494ca5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9618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2b7494ca5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2b7494ca5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020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2b7494ca5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2b7494ca5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4766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2b7494ca5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2b7494ca5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5745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2b7494ca5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2b7494ca5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80891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2b7494ca5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2b7494ca5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8603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2b7494ca5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2b7494ca5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80541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c190bc4ce7_0_1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2c190bc4ce7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KV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2C3302-4C36-DA17-6749-B28C9A77EB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7713" y="-4480"/>
            <a:ext cx="12227426" cy="686695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7EE49C4-BBD9-C92C-DA99-22853C55A469}"/>
              </a:ext>
            </a:extLst>
          </p:cNvPr>
          <p:cNvSpPr txBox="1"/>
          <p:nvPr userDrawn="1"/>
        </p:nvSpPr>
        <p:spPr>
          <a:xfrm>
            <a:off x="809499" y="5677503"/>
            <a:ext cx="5390707" cy="3447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75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40">
                <a:solidFill>
                  <a:schemeClr val="bg1"/>
                </a:solidFill>
                <a:latin typeface="Graphik Light" panose="020B0403030202060203" pitchFamily="34" charset="77"/>
              </a:rPr>
              <a:t>Work at the heart of </a:t>
            </a:r>
            <a:r>
              <a:rPr lang="en-US" sz="2240">
                <a:solidFill>
                  <a:schemeClr val="bg1"/>
                </a:solidFill>
              </a:rPr>
              <a:t>c</a:t>
            </a:r>
            <a:r>
              <a:rPr lang="en-US" sz="2240" b="1" i="1">
                <a:solidFill>
                  <a:schemeClr val="bg1"/>
                </a:solidFill>
                <a:latin typeface="Graphik Semibold" panose="020B0503030202060203" pitchFamily="34" charset="77"/>
              </a:rPr>
              <a:t>h</a:t>
            </a:r>
            <a:r>
              <a:rPr lang="en-US" sz="2240">
                <a:solidFill>
                  <a:schemeClr val="bg1"/>
                </a:solidFill>
                <a:latin typeface="Graphik Light" panose="020B0403030202060203" pitchFamily="34" charset="77"/>
              </a:rPr>
              <a:t>a</a:t>
            </a:r>
            <a:r>
              <a:rPr lang="en-US" sz="2240">
                <a:solidFill>
                  <a:schemeClr val="bg1"/>
                </a:solidFill>
              </a:rPr>
              <a:t>ng</a:t>
            </a:r>
            <a:r>
              <a:rPr lang="en-US" sz="2240">
                <a:solidFill>
                  <a:schemeClr val="bg1"/>
                </a:solidFill>
                <a:latin typeface="Graphik Light" panose="020B0403030202060203" pitchFamily="34" charset="77"/>
              </a:rPr>
              <a:t>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5F5E3C-8C34-0352-CA56-BD3CB5E4B18C}"/>
              </a:ext>
            </a:extLst>
          </p:cNvPr>
          <p:cNvSpPr txBox="1"/>
          <p:nvPr userDrawn="1"/>
        </p:nvSpPr>
        <p:spPr>
          <a:xfrm>
            <a:off x="712556" y="1786030"/>
            <a:ext cx="7655486" cy="78790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indent="0" algn="l" defTabSz="975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120" b="1" i="0" u="none" strike="noStrike" kern="1200" cap="none" spc="0" normalizeH="0" baseline="0" noProof="0">
              <a:ln>
                <a:noFill/>
              </a:ln>
              <a:solidFill>
                <a:schemeClr val="bg1">
                  <a:alpha val="40000"/>
                </a:schemeClr>
              </a:solidFill>
              <a:effectLst/>
              <a:uLnTx/>
              <a:uFillTx/>
              <a:latin typeface="Graphik Semibold" panose="020B0503030202060203" pitchFamily="34" charset="77"/>
              <a:ea typeface="+mn-ea"/>
              <a:cs typeface="+mn-cs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3400F2E-48D9-612B-934C-AEB7ACDACF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2895" y="2485708"/>
            <a:ext cx="7655559" cy="91131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4651"/>
              </a:lnSpc>
              <a:buNone/>
              <a:defRPr sz="5760" b="1" i="0">
                <a:solidFill>
                  <a:srgbClr val="EEB1FF"/>
                </a:solidFill>
                <a:latin typeface="Graphik Semibold" panose="020B0503030202060203" pitchFamily="34" charset="77"/>
              </a:defRPr>
            </a:lvl1pPr>
            <a:lvl2pPr marL="424664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2pPr>
            <a:lvl3pPr marL="849328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3pPr>
            <a:lvl4pPr marL="1273991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4pPr>
            <a:lvl5pPr marL="1698655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5pPr>
          </a:lstStyle>
          <a:p>
            <a:pPr lvl="0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64EBCB7-2AF4-2300-DC6F-51EE539C89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803" y="809398"/>
            <a:ext cx="1673538" cy="472566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B0879C-00BB-6FBE-30A8-CE6FA6F9D8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7029" y="3474654"/>
            <a:ext cx="8446347" cy="172999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987" b="0" i="0">
                <a:solidFill>
                  <a:schemeClr val="bg1"/>
                </a:solidFill>
                <a:latin typeface="Graphik Medium" panose="020B0503030202060203" pitchFamily="34" charset="77"/>
              </a:defRPr>
            </a:lvl1pPr>
            <a:lvl2pPr marL="424664" indent="0">
              <a:buNone/>
              <a:defRPr>
                <a:solidFill>
                  <a:schemeClr val="bg1"/>
                </a:solidFill>
              </a:defRPr>
            </a:lvl2pPr>
            <a:lvl3pPr marL="849328" indent="0">
              <a:buNone/>
              <a:defRPr>
                <a:solidFill>
                  <a:schemeClr val="bg1"/>
                </a:solidFill>
              </a:defRPr>
            </a:lvl3pPr>
            <a:lvl4pPr marL="1273991" indent="0">
              <a:buNone/>
              <a:defRPr>
                <a:solidFill>
                  <a:schemeClr val="bg1"/>
                </a:solidFill>
              </a:defRPr>
            </a:lvl4pPr>
            <a:lvl5pPr marL="169865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686726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8774F5-4A4B-230A-995B-6A673D3AE3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7713" y="-4480"/>
            <a:ext cx="12227426" cy="686695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55F5E3C-8C34-0352-CA56-BD3CB5E4B18C}"/>
              </a:ext>
            </a:extLst>
          </p:cNvPr>
          <p:cNvSpPr txBox="1"/>
          <p:nvPr userDrawn="1"/>
        </p:nvSpPr>
        <p:spPr>
          <a:xfrm>
            <a:off x="712556" y="1786030"/>
            <a:ext cx="7655486" cy="78790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indent="0" algn="l" defTabSz="975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120" b="1" i="0" u="none" strike="noStrike" kern="1200" cap="none" spc="0" normalizeH="0" baseline="0" noProof="0">
              <a:ln>
                <a:noFill/>
              </a:ln>
              <a:solidFill>
                <a:schemeClr val="bg1">
                  <a:alpha val="40000"/>
                </a:schemeClr>
              </a:solidFill>
              <a:effectLst/>
              <a:uLnTx/>
              <a:uFillTx/>
              <a:latin typeface="Graphik Semibold" panose="020B0503030202060203" pitchFamily="34" charset="77"/>
              <a:ea typeface="+mn-ea"/>
              <a:cs typeface="+mn-cs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3400F2E-48D9-612B-934C-AEB7ACDACF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2895" y="1860193"/>
            <a:ext cx="7655559" cy="26287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  <a:lvl2pPr marL="424664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2pPr>
            <a:lvl3pPr marL="849328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3pPr>
            <a:lvl4pPr marL="1273991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4pPr>
            <a:lvl5pPr marL="1698655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5pPr>
          </a:lstStyle>
          <a:p>
            <a:pPr lvl="0"/>
            <a:endParaRPr lang="en-US"/>
          </a:p>
        </p:txBody>
      </p:sp>
      <p:pic>
        <p:nvPicPr>
          <p:cNvPr id="2" name="Picture 1" descr="A white arrow on a black background&#10;&#10;AI-generated content may be incorrect.">
            <a:extLst>
              <a:ext uri="{FF2B5EF4-FFF2-40B4-BE49-F238E27FC236}">
                <a16:creationId xmlns:a16="http://schemas.microsoft.com/office/drawing/2014/main" id="{7E6DD9F5-7704-319C-9F43-9280D0BA449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9530" y="650491"/>
            <a:ext cx="504134" cy="59859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8264D5F-1876-8DC2-2AD3-C8FB7EA16A1F}"/>
              </a:ext>
            </a:extLst>
          </p:cNvPr>
          <p:cNvSpPr/>
          <p:nvPr userDrawn="1"/>
        </p:nvSpPr>
        <p:spPr>
          <a:xfrm>
            <a:off x="607110" y="5509005"/>
            <a:ext cx="2793104" cy="466212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8E8AF8-6CA1-71ED-364A-02204A619369}"/>
              </a:ext>
            </a:extLst>
          </p:cNvPr>
          <p:cNvSpPr txBox="1"/>
          <p:nvPr userDrawn="1"/>
        </p:nvSpPr>
        <p:spPr>
          <a:xfrm>
            <a:off x="812357" y="5558782"/>
            <a:ext cx="2504170" cy="33656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75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187" b="0" i="0">
                <a:solidFill>
                  <a:srgbClr val="EBB0FE"/>
                </a:solidFill>
                <a:latin typeface="Graphik Medium" panose="020B0503030202060203" pitchFamily="34" charset="77"/>
              </a:rPr>
              <a:t>Data and AI Week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D7A979-467D-8867-0C30-BE8323B21D3A}"/>
              </a:ext>
            </a:extLst>
          </p:cNvPr>
          <p:cNvSpPr txBox="1"/>
          <p:nvPr userDrawn="1"/>
        </p:nvSpPr>
        <p:spPr>
          <a:xfrm>
            <a:off x="717233" y="4751842"/>
            <a:ext cx="5390707" cy="3447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75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40">
                <a:solidFill>
                  <a:schemeClr val="bg1"/>
                </a:solidFill>
                <a:latin typeface="Graphik Light" panose="020B0403030202060203" pitchFamily="34" charset="77"/>
              </a:rPr>
              <a:t>Work at the heart of </a:t>
            </a:r>
            <a:r>
              <a:rPr lang="en-US" sz="2240">
                <a:solidFill>
                  <a:schemeClr val="bg1"/>
                </a:solidFill>
              </a:rPr>
              <a:t>c</a:t>
            </a:r>
            <a:r>
              <a:rPr lang="en-US" sz="2240" b="1" i="1">
                <a:solidFill>
                  <a:schemeClr val="bg1"/>
                </a:solidFill>
                <a:latin typeface="Graphik Semibold" panose="020B0503030202060203" pitchFamily="34" charset="77"/>
              </a:rPr>
              <a:t>h</a:t>
            </a:r>
            <a:r>
              <a:rPr lang="en-US" sz="2240">
                <a:solidFill>
                  <a:schemeClr val="bg1"/>
                </a:solidFill>
                <a:latin typeface="Graphik Light" panose="020B0403030202060203" pitchFamily="34" charset="77"/>
              </a:rPr>
              <a:t>a</a:t>
            </a:r>
            <a:r>
              <a:rPr lang="en-US" sz="2240">
                <a:solidFill>
                  <a:schemeClr val="bg1"/>
                </a:solidFill>
              </a:rPr>
              <a:t>ng</a:t>
            </a:r>
            <a:r>
              <a:rPr lang="en-US" sz="2240">
                <a:solidFill>
                  <a:schemeClr val="bg1"/>
                </a:solidFill>
                <a:latin typeface="Graphik Light" panose="020B0403030202060203" pitchFamily="34" charset="77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000775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6C36A4-D218-56E8-FD55-2959CFF678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7713" y="-4480"/>
            <a:ext cx="12227426" cy="6866958"/>
          </a:xfrm>
          <a:prstGeom prst="rect">
            <a:avLst/>
          </a:prstGeom>
        </p:spPr>
      </p:pic>
      <p:pic>
        <p:nvPicPr>
          <p:cNvPr id="15" name="Picture 14" descr="A white arrow on a black background&#10;&#10;AI-generated content may be incorrect.">
            <a:extLst>
              <a:ext uri="{FF2B5EF4-FFF2-40B4-BE49-F238E27FC236}">
                <a16:creationId xmlns:a16="http://schemas.microsoft.com/office/drawing/2014/main" id="{B0642955-EBA2-A21F-CE64-C18BE4F256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9530" y="650491"/>
            <a:ext cx="504134" cy="59859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55F5E3C-8C34-0352-CA56-BD3CB5E4B18C}"/>
              </a:ext>
            </a:extLst>
          </p:cNvPr>
          <p:cNvSpPr txBox="1"/>
          <p:nvPr userDrawn="1"/>
        </p:nvSpPr>
        <p:spPr>
          <a:xfrm>
            <a:off x="712556" y="1786030"/>
            <a:ext cx="7655486" cy="78790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indent="0" algn="l" defTabSz="975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120" b="1" i="0" u="none" strike="noStrike" kern="1200" cap="none" spc="0" normalizeH="0" baseline="0" noProof="0">
              <a:ln>
                <a:noFill/>
              </a:ln>
              <a:solidFill>
                <a:schemeClr val="bg1">
                  <a:alpha val="40000"/>
                </a:schemeClr>
              </a:solidFill>
              <a:effectLst/>
              <a:uLnTx/>
              <a:uFillTx/>
              <a:latin typeface="Graphik Semibold" panose="020B0503030202060203" pitchFamily="34" charset="77"/>
              <a:ea typeface="+mn-ea"/>
              <a:cs typeface="+mn-cs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3400F2E-48D9-612B-934C-AEB7ACDACF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2895" y="1860193"/>
            <a:ext cx="7655559" cy="26287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  <a:lvl2pPr marL="424664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2pPr>
            <a:lvl3pPr marL="849328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3pPr>
            <a:lvl4pPr marL="1273991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4pPr>
            <a:lvl5pPr marL="1698655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5pPr>
          </a:lstStyle>
          <a:p>
            <a:pPr lvl="0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EB6716-4C0E-BE1A-8D9A-1FA2EECF2788}"/>
              </a:ext>
            </a:extLst>
          </p:cNvPr>
          <p:cNvSpPr/>
          <p:nvPr userDrawn="1"/>
        </p:nvSpPr>
        <p:spPr>
          <a:xfrm>
            <a:off x="607110" y="5509005"/>
            <a:ext cx="2793104" cy="466212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C5AA99-426E-C07B-E573-5AB5E8EC3E1F}"/>
              </a:ext>
            </a:extLst>
          </p:cNvPr>
          <p:cNvSpPr txBox="1"/>
          <p:nvPr userDrawn="1"/>
        </p:nvSpPr>
        <p:spPr>
          <a:xfrm>
            <a:off x="812357" y="5558782"/>
            <a:ext cx="2504170" cy="33656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75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187" b="0" i="0">
                <a:solidFill>
                  <a:srgbClr val="EBB0FE"/>
                </a:solidFill>
                <a:latin typeface="Graphik Medium" panose="020B0503030202060203" pitchFamily="34" charset="77"/>
              </a:rPr>
              <a:t>Data and AI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9EEA2B-1987-CECE-3B0F-E69EC9647168}"/>
              </a:ext>
            </a:extLst>
          </p:cNvPr>
          <p:cNvSpPr txBox="1"/>
          <p:nvPr userDrawn="1"/>
        </p:nvSpPr>
        <p:spPr>
          <a:xfrm>
            <a:off x="717233" y="4751842"/>
            <a:ext cx="5390707" cy="3447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75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40">
                <a:solidFill>
                  <a:schemeClr val="bg1"/>
                </a:solidFill>
                <a:latin typeface="Graphik Light" panose="020B0403030202060203" pitchFamily="34" charset="77"/>
              </a:rPr>
              <a:t>Work at the heart of </a:t>
            </a:r>
            <a:r>
              <a:rPr lang="en-US" sz="2240">
                <a:solidFill>
                  <a:schemeClr val="bg1"/>
                </a:solidFill>
              </a:rPr>
              <a:t>c</a:t>
            </a:r>
            <a:r>
              <a:rPr lang="en-US" sz="2240" b="1" i="1">
                <a:solidFill>
                  <a:schemeClr val="bg1"/>
                </a:solidFill>
                <a:latin typeface="Graphik Semibold" panose="020B0503030202060203" pitchFamily="34" charset="77"/>
              </a:rPr>
              <a:t>h</a:t>
            </a:r>
            <a:r>
              <a:rPr lang="en-US" sz="2240">
                <a:solidFill>
                  <a:schemeClr val="bg1"/>
                </a:solidFill>
                <a:latin typeface="Graphik Light" panose="020B0403030202060203" pitchFamily="34" charset="77"/>
              </a:rPr>
              <a:t>a</a:t>
            </a:r>
            <a:r>
              <a:rPr lang="en-US" sz="2240">
                <a:solidFill>
                  <a:schemeClr val="bg1"/>
                </a:solidFill>
              </a:rPr>
              <a:t>ng</a:t>
            </a:r>
            <a:r>
              <a:rPr lang="en-US" sz="2240">
                <a:solidFill>
                  <a:schemeClr val="bg1"/>
                </a:solidFill>
                <a:latin typeface="Graphik Light" panose="020B0403030202060203" pitchFamily="34" charset="77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54999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8D841A-AE0E-A113-3AF4-4163440739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7713" y="-4479"/>
            <a:ext cx="12227426" cy="686695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55F5E3C-8C34-0352-CA56-BD3CB5E4B18C}"/>
              </a:ext>
            </a:extLst>
          </p:cNvPr>
          <p:cNvSpPr txBox="1"/>
          <p:nvPr userDrawn="1"/>
        </p:nvSpPr>
        <p:spPr>
          <a:xfrm>
            <a:off x="712556" y="1786030"/>
            <a:ext cx="7655486" cy="78790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indent="0" algn="l" defTabSz="975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120" b="1" i="0" u="none" strike="noStrike" kern="1200" cap="none" spc="0" normalizeH="0" baseline="0" noProof="0">
              <a:ln>
                <a:noFill/>
              </a:ln>
              <a:solidFill>
                <a:schemeClr val="bg1">
                  <a:alpha val="40000"/>
                </a:schemeClr>
              </a:solidFill>
              <a:effectLst/>
              <a:uLnTx/>
              <a:uFillTx/>
              <a:latin typeface="Graphik Semibold" panose="020B0503030202060203" pitchFamily="34" charset="77"/>
              <a:ea typeface="+mn-ea"/>
              <a:cs typeface="+mn-cs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3400F2E-48D9-612B-934C-AEB7ACDACF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2895" y="1860193"/>
            <a:ext cx="7655559" cy="26287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  <a:lvl2pPr marL="424664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2pPr>
            <a:lvl3pPr marL="849328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3pPr>
            <a:lvl4pPr marL="1273991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4pPr>
            <a:lvl5pPr marL="1698655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5pPr>
          </a:lstStyle>
          <a:p>
            <a:pPr lvl="0"/>
            <a:endParaRPr lang="en-US"/>
          </a:p>
        </p:txBody>
      </p:sp>
      <p:pic>
        <p:nvPicPr>
          <p:cNvPr id="3" name="Picture 2" descr="A white arrow on a black background&#10;&#10;AI-generated content may be incorrect.">
            <a:extLst>
              <a:ext uri="{FF2B5EF4-FFF2-40B4-BE49-F238E27FC236}">
                <a16:creationId xmlns:a16="http://schemas.microsoft.com/office/drawing/2014/main" id="{E4C23E13-553E-8CAC-30D2-ABB45243E3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9530" y="650491"/>
            <a:ext cx="504134" cy="5985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4AE246-3507-2C60-3E77-80A401FFA0AE}"/>
              </a:ext>
            </a:extLst>
          </p:cNvPr>
          <p:cNvSpPr/>
          <p:nvPr userDrawn="1"/>
        </p:nvSpPr>
        <p:spPr>
          <a:xfrm>
            <a:off x="607110" y="5509005"/>
            <a:ext cx="2793104" cy="466212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865284-A704-B65E-8109-674A5BB60D55}"/>
              </a:ext>
            </a:extLst>
          </p:cNvPr>
          <p:cNvSpPr txBox="1"/>
          <p:nvPr userDrawn="1"/>
        </p:nvSpPr>
        <p:spPr>
          <a:xfrm>
            <a:off x="812357" y="5558782"/>
            <a:ext cx="2504170" cy="33656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75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187" b="0" i="0">
                <a:solidFill>
                  <a:srgbClr val="EBB0FE"/>
                </a:solidFill>
                <a:latin typeface="Graphik Medium" panose="020B0503030202060203" pitchFamily="34" charset="77"/>
              </a:rPr>
              <a:t>Data and AI Week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B4518E-C8F6-238D-D450-7DCE9CF7D3B0}"/>
              </a:ext>
            </a:extLst>
          </p:cNvPr>
          <p:cNvSpPr txBox="1"/>
          <p:nvPr userDrawn="1"/>
        </p:nvSpPr>
        <p:spPr>
          <a:xfrm>
            <a:off x="717233" y="4751842"/>
            <a:ext cx="5390707" cy="3447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75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40">
                <a:solidFill>
                  <a:schemeClr val="bg1"/>
                </a:solidFill>
                <a:latin typeface="Graphik Light" panose="020B0403030202060203" pitchFamily="34" charset="77"/>
              </a:rPr>
              <a:t>Work at the heart of </a:t>
            </a:r>
            <a:r>
              <a:rPr lang="en-US" sz="2240">
                <a:solidFill>
                  <a:schemeClr val="bg1"/>
                </a:solidFill>
              </a:rPr>
              <a:t>c</a:t>
            </a:r>
            <a:r>
              <a:rPr lang="en-US" sz="2240" b="1" i="1">
                <a:solidFill>
                  <a:schemeClr val="bg1"/>
                </a:solidFill>
                <a:latin typeface="Graphik Semibold" panose="020B0503030202060203" pitchFamily="34" charset="77"/>
              </a:rPr>
              <a:t>h</a:t>
            </a:r>
            <a:r>
              <a:rPr lang="en-US" sz="2240">
                <a:solidFill>
                  <a:schemeClr val="bg1"/>
                </a:solidFill>
                <a:latin typeface="Graphik Light" panose="020B0403030202060203" pitchFamily="34" charset="77"/>
              </a:rPr>
              <a:t>a</a:t>
            </a:r>
            <a:r>
              <a:rPr lang="en-US" sz="2240">
                <a:solidFill>
                  <a:schemeClr val="bg1"/>
                </a:solidFill>
              </a:rPr>
              <a:t>ng</a:t>
            </a:r>
            <a:r>
              <a:rPr lang="en-US" sz="2240">
                <a:solidFill>
                  <a:schemeClr val="bg1"/>
                </a:solidFill>
                <a:latin typeface="Graphik Light" panose="020B0403030202060203" pitchFamily="34" charset="77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49730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y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7A378E-CCB9-B95E-EAF1-0FEA6A2351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7711" y="-4480"/>
            <a:ext cx="12227422" cy="686695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55F5E3C-8C34-0352-CA56-BD3CB5E4B18C}"/>
              </a:ext>
            </a:extLst>
          </p:cNvPr>
          <p:cNvSpPr txBox="1"/>
          <p:nvPr userDrawn="1"/>
        </p:nvSpPr>
        <p:spPr>
          <a:xfrm>
            <a:off x="712556" y="1786030"/>
            <a:ext cx="7655486" cy="78790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indent="0" algn="l" defTabSz="975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120" b="1" i="0" u="none" strike="noStrike" kern="1200" cap="none" spc="0" normalizeH="0" baseline="0" noProof="0">
              <a:ln>
                <a:noFill/>
              </a:ln>
              <a:solidFill>
                <a:schemeClr val="bg1">
                  <a:alpha val="40000"/>
                </a:schemeClr>
              </a:solidFill>
              <a:effectLst/>
              <a:uLnTx/>
              <a:uFillTx/>
              <a:latin typeface="Graphik Semibold" panose="020B0503030202060203" pitchFamily="34" charset="77"/>
              <a:ea typeface="+mn-ea"/>
              <a:cs typeface="+mn-cs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3400F2E-48D9-612B-934C-AEB7ACDACF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2895" y="1860193"/>
            <a:ext cx="7655559" cy="26287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  <a:lvl2pPr marL="424664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2pPr>
            <a:lvl3pPr marL="849328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3pPr>
            <a:lvl4pPr marL="1273991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4pPr>
            <a:lvl5pPr marL="1698655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5pPr>
          </a:lstStyle>
          <a:p>
            <a:pPr lvl="0"/>
            <a:endParaRPr lang="en-US"/>
          </a:p>
        </p:txBody>
      </p:sp>
      <p:pic>
        <p:nvPicPr>
          <p:cNvPr id="3" name="Picture 2" descr="A white arrow on a black background&#10;&#10;AI-generated content may be incorrect.">
            <a:extLst>
              <a:ext uri="{FF2B5EF4-FFF2-40B4-BE49-F238E27FC236}">
                <a16:creationId xmlns:a16="http://schemas.microsoft.com/office/drawing/2014/main" id="{33E13488-72FD-0E33-A6F2-2285D4FE5E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9530" y="650491"/>
            <a:ext cx="504134" cy="5985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51812D-08D5-7E1D-329A-428B9A0C47C1}"/>
              </a:ext>
            </a:extLst>
          </p:cNvPr>
          <p:cNvSpPr/>
          <p:nvPr userDrawn="1"/>
        </p:nvSpPr>
        <p:spPr>
          <a:xfrm>
            <a:off x="607110" y="5509005"/>
            <a:ext cx="2793104" cy="466212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987D53-071E-4607-B9BE-20C235A4D5CE}"/>
              </a:ext>
            </a:extLst>
          </p:cNvPr>
          <p:cNvSpPr txBox="1"/>
          <p:nvPr userDrawn="1"/>
        </p:nvSpPr>
        <p:spPr>
          <a:xfrm>
            <a:off x="812357" y="5558782"/>
            <a:ext cx="2504170" cy="33656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75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187" b="0" i="0">
                <a:solidFill>
                  <a:srgbClr val="EBB0FE"/>
                </a:solidFill>
                <a:latin typeface="Graphik Medium" panose="020B0503030202060203" pitchFamily="34" charset="77"/>
              </a:rPr>
              <a:t>Data and AI Week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27B451-623C-0461-A1FC-AD6C9E436521}"/>
              </a:ext>
            </a:extLst>
          </p:cNvPr>
          <p:cNvSpPr txBox="1"/>
          <p:nvPr userDrawn="1"/>
        </p:nvSpPr>
        <p:spPr>
          <a:xfrm>
            <a:off x="717233" y="4751842"/>
            <a:ext cx="5390707" cy="3447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75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40">
                <a:solidFill>
                  <a:schemeClr val="bg1"/>
                </a:solidFill>
                <a:latin typeface="Graphik Light" panose="020B0403030202060203" pitchFamily="34" charset="77"/>
              </a:rPr>
              <a:t>Work at the heart of </a:t>
            </a:r>
            <a:r>
              <a:rPr lang="en-US" sz="2240">
                <a:solidFill>
                  <a:schemeClr val="bg1"/>
                </a:solidFill>
              </a:rPr>
              <a:t>c</a:t>
            </a:r>
            <a:r>
              <a:rPr lang="en-US" sz="2240" b="1" i="1">
                <a:solidFill>
                  <a:schemeClr val="bg1"/>
                </a:solidFill>
                <a:latin typeface="Graphik Semibold" panose="020B0503030202060203" pitchFamily="34" charset="77"/>
              </a:rPr>
              <a:t>h</a:t>
            </a:r>
            <a:r>
              <a:rPr lang="en-US" sz="2240">
                <a:solidFill>
                  <a:schemeClr val="bg1"/>
                </a:solidFill>
                <a:latin typeface="Graphik Light" panose="020B0403030202060203" pitchFamily="34" charset="77"/>
              </a:rPr>
              <a:t>a</a:t>
            </a:r>
            <a:r>
              <a:rPr lang="en-US" sz="2240">
                <a:solidFill>
                  <a:schemeClr val="bg1"/>
                </a:solidFill>
              </a:rPr>
              <a:t>ng</a:t>
            </a:r>
            <a:r>
              <a:rPr lang="en-US" sz="2240">
                <a:solidFill>
                  <a:schemeClr val="bg1"/>
                </a:solidFill>
                <a:latin typeface="Graphik Light" panose="020B0403030202060203" pitchFamily="34" charset="77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785375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y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057431-02A3-DBC7-0B20-DC97998DC5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7712" y="-4479"/>
            <a:ext cx="12227424" cy="686695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55F5E3C-8C34-0352-CA56-BD3CB5E4B18C}"/>
              </a:ext>
            </a:extLst>
          </p:cNvPr>
          <p:cNvSpPr txBox="1"/>
          <p:nvPr userDrawn="1"/>
        </p:nvSpPr>
        <p:spPr>
          <a:xfrm>
            <a:off x="712556" y="1786030"/>
            <a:ext cx="7655486" cy="78790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indent="0" algn="l" defTabSz="975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120" b="1" i="0" u="none" strike="noStrike" kern="1200" cap="none" spc="0" normalizeH="0" baseline="0" noProof="0">
              <a:ln>
                <a:noFill/>
              </a:ln>
              <a:solidFill>
                <a:schemeClr val="bg1">
                  <a:alpha val="40000"/>
                </a:schemeClr>
              </a:solidFill>
              <a:effectLst/>
              <a:uLnTx/>
              <a:uFillTx/>
              <a:latin typeface="Graphik Semibold" panose="020B0503030202060203" pitchFamily="34" charset="77"/>
              <a:ea typeface="+mn-ea"/>
              <a:cs typeface="+mn-cs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3400F2E-48D9-612B-934C-AEB7ACDACF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2895" y="1860193"/>
            <a:ext cx="7655559" cy="26287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  <a:lvl2pPr marL="424664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2pPr>
            <a:lvl3pPr marL="849328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3pPr>
            <a:lvl4pPr marL="1273991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4pPr>
            <a:lvl5pPr marL="1698655" indent="0">
              <a:lnSpc>
                <a:spcPts val="4651"/>
              </a:lnSpc>
              <a:buNone/>
              <a:defRPr sz="512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5pPr>
          </a:lstStyle>
          <a:p>
            <a:pPr lvl="0"/>
            <a:endParaRPr lang="en-US"/>
          </a:p>
        </p:txBody>
      </p:sp>
      <p:pic>
        <p:nvPicPr>
          <p:cNvPr id="3" name="Picture 2" descr="A white arrow on a black background&#10;&#10;AI-generated content may be incorrect.">
            <a:extLst>
              <a:ext uri="{FF2B5EF4-FFF2-40B4-BE49-F238E27FC236}">
                <a16:creationId xmlns:a16="http://schemas.microsoft.com/office/drawing/2014/main" id="{6B9EBB17-2A21-6002-1A8E-2C46E0592B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9530" y="650491"/>
            <a:ext cx="504134" cy="5985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D917FE9-B869-D5C9-27E2-C7A269B03AE3}"/>
              </a:ext>
            </a:extLst>
          </p:cNvPr>
          <p:cNvSpPr/>
          <p:nvPr userDrawn="1"/>
        </p:nvSpPr>
        <p:spPr>
          <a:xfrm>
            <a:off x="607110" y="5509005"/>
            <a:ext cx="2793104" cy="466212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CB4FD-61D0-6469-66C9-C80359A8B99A}"/>
              </a:ext>
            </a:extLst>
          </p:cNvPr>
          <p:cNvSpPr txBox="1"/>
          <p:nvPr userDrawn="1"/>
        </p:nvSpPr>
        <p:spPr>
          <a:xfrm>
            <a:off x="812357" y="5558782"/>
            <a:ext cx="2504170" cy="33656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75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187" b="0" i="0">
                <a:solidFill>
                  <a:srgbClr val="EBB0FE"/>
                </a:solidFill>
                <a:latin typeface="Graphik Medium" panose="020B0503030202060203" pitchFamily="34" charset="77"/>
              </a:rPr>
              <a:t>Data and AI Week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E82BDD-6A39-728C-0DFC-83E37C5D096C}"/>
              </a:ext>
            </a:extLst>
          </p:cNvPr>
          <p:cNvSpPr txBox="1"/>
          <p:nvPr userDrawn="1"/>
        </p:nvSpPr>
        <p:spPr>
          <a:xfrm>
            <a:off x="717233" y="4751842"/>
            <a:ext cx="5390707" cy="3447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75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40">
                <a:solidFill>
                  <a:schemeClr val="bg1"/>
                </a:solidFill>
                <a:latin typeface="Graphik Light" panose="020B0403030202060203" pitchFamily="34" charset="77"/>
              </a:rPr>
              <a:t>Work at the heart of </a:t>
            </a:r>
            <a:r>
              <a:rPr lang="en-US" sz="2240">
                <a:solidFill>
                  <a:schemeClr val="bg1"/>
                </a:solidFill>
              </a:rPr>
              <a:t>c</a:t>
            </a:r>
            <a:r>
              <a:rPr lang="en-US" sz="2240" b="1" i="1">
                <a:solidFill>
                  <a:schemeClr val="bg1"/>
                </a:solidFill>
                <a:latin typeface="Graphik Semibold" panose="020B0503030202060203" pitchFamily="34" charset="77"/>
              </a:rPr>
              <a:t>h</a:t>
            </a:r>
            <a:r>
              <a:rPr lang="en-US" sz="2240">
                <a:solidFill>
                  <a:schemeClr val="bg1"/>
                </a:solidFill>
                <a:latin typeface="Graphik Light" panose="020B0403030202060203" pitchFamily="34" charset="77"/>
              </a:rPr>
              <a:t>a</a:t>
            </a:r>
            <a:r>
              <a:rPr lang="en-US" sz="2240">
                <a:solidFill>
                  <a:schemeClr val="bg1"/>
                </a:solidFill>
              </a:rPr>
              <a:t>ng</a:t>
            </a:r>
            <a:r>
              <a:rPr lang="en-US" sz="2240">
                <a:solidFill>
                  <a:schemeClr val="bg1"/>
                </a:solidFill>
                <a:latin typeface="Graphik Light" panose="020B0403030202060203" pitchFamily="34" charset="77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82639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627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146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2474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5230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736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891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806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9112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6512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1776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3092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22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7EA123B2-AC32-37EE-21E1-ED6807070821}"/>
              </a:ext>
            </a:extLst>
          </p:cNvPr>
          <p:cNvSpPr txBox="1">
            <a:spLocks/>
          </p:cNvSpPr>
          <p:nvPr userDrawn="1"/>
        </p:nvSpPr>
        <p:spPr>
          <a:xfrm>
            <a:off x="11702754" y="6582541"/>
            <a:ext cx="489246" cy="18699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493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743" b="0" i="0" u="none" strike="noStrike" kern="1200" cap="none" spc="0" normalizeH="0" baseline="0" noProof="0" smtClean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 Medium" panose="020B0503030202060203" pitchFamily="34" charset="77"/>
                <a:ea typeface="+mn-ea"/>
                <a:cs typeface="+mn-cs"/>
              </a:rPr>
              <a:pPr marL="0" marR="0" lvl="0" indent="0" algn="l" defTabSz="84932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43" b="0" i="0" u="none" strike="noStrike" kern="120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 Medium" panose="020B050303020206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4981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849328" rtl="0" eaLnBrk="1" latinLnBrk="0" hangingPunct="1">
        <a:lnSpc>
          <a:spcPct val="90000"/>
        </a:lnSpc>
        <a:spcBef>
          <a:spcPct val="0"/>
        </a:spcBef>
        <a:buNone/>
        <a:defRPr sz="40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2332" indent="-212332" algn="l" defTabSz="849328" rtl="0" eaLnBrk="1" latinLnBrk="0" hangingPunct="1">
        <a:lnSpc>
          <a:spcPct val="90000"/>
        </a:lnSpc>
        <a:spcBef>
          <a:spcPts val="929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1pPr>
      <a:lvl2pPr marL="636996" indent="-212332" algn="l" defTabSz="849328" rtl="0" eaLnBrk="1" latinLnBrk="0" hangingPunct="1">
        <a:lnSpc>
          <a:spcPct val="90000"/>
        </a:lnSpc>
        <a:spcBef>
          <a:spcPts val="464"/>
        </a:spcBef>
        <a:buFont typeface="Arial" panose="020B0604020202020204" pitchFamily="34" charset="0"/>
        <a:buChar char="•"/>
        <a:defRPr sz="2229" kern="1200">
          <a:solidFill>
            <a:schemeClr val="tx1"/>
          </a:solidFill>
          <a:latin typeface="+mn-lt"/>
          <a:ea typeface="+mn-ea"/>
          <a:cs typeface="+mn-cs"/>
        </a:defRPr>
      </a:lvl2pPr>
      <a:lvl3pPr marL="1061660" indent="-212332" algn="l" defTabSz="849328" rtl="0" eaLnBrk="1" latinLnBrk="0" hangingPunct="1">
        <a:lnSpc>
          <a:spcPct val="90000"/>
        </a:lnSpc>
        <a:spcBef>
          <a:spcPts val="464"/>
        </a:spcBef>
        <a:buFont typeface="Arial" panose="020B0604020202020204" pitchFamily="34" charset="0"/>
        <a:buChar char="•"/>
        <a:defRPr sz="1858" kern="1200">
          <a:solidFill>
            <a:schemeClr val="tx1"/>
          </a:solidFill>
          <a:latin typeface="+mn-lt"/>
          <a:ea typeface="+mn-ea"/>
          <a:cs typeface="+mn-cs"/>
        </a:defRPr>
      </a:lvl3pPr>
      <a:lvl4pPr marL="1486323" indent="-212332" algn="l" defTabSz="849328" rtl="0" eaLnBrk="1" latinLnBrk="0" hangingPunct="1">
        <a:lnSpc>
          <a:spcPct val="90000"/>
        </a:lnSpc>
        <a:spcBef>
          <a:spcPts val="464"/>
        </a:spcBef>
        <a:buFont typeface="Arial" panose="020B0604020202020204" pitchFamily="34" charset="0"/>
        <a:buChar char="•"/>
        <a:defRPr sz="1672" kern="1200">
          <a:solidFill>
            <a:schemeClr val="tx1"/>
          </a:solidFill>
          <a:latin typeface="+mn-lt"/>
          <a:ea typeface="+mn-ea"/>
          <a:cs typeface="+mn-cs"/>
        </a:defRPr>
      </a:lvl4pPr>
      <a:lvl5pPr marL="1910987" indent="-212332" algn="l" defTabSz="849328" rtl="0" eaLnBrk="1" latinLnBrk="0" hangingPunct="1">
        <a:lnSpc>
          <a:spcPct val="90000"/>
        </a:lnSpc>
        <a:spcBef>
          <a:spcPts val="464"/>
        </a:spcBef>
        <a:buFont typeface="Arial" panose="020B0604020202020204" pitchFamily="34" charset="0"/>
        <a:buChar char="•"/>
        <a:defRPr sz="1672" kern="1200">
          <a:solidFill>
            <a:schemeClr val="tx1"/>
          </a:solidFill>
          <a:latin typeface="+mn-lt"/>
          <a:ea typeface="+mn-ea"/>
          <a:cs typeface="+mn-cs"/>
        </a:defRPr>
      </a:lvl5pPr>
      <a:lvl6pPr marL="2335651" indent="-212332" algn="l" defTabSz="849328" rtl="0" eaLnBrk="1" latinLnBrk="0" hangingPunct="1">
        <a:lnSpc>
          <a:spcPct val="90000"/>
        </a:lnSpc>
        <a:spcBef>
          <a:spcPts val="464"/>
        </a:spcBef>
        <a:buFont typeface="Arial" panose="020B0604020202020204" pitchFamily="34" charset="0"/>
        <a:buChar char="•"/>
        <a:defRPr sz="1672" kern="1200">
          <a:solidFill>
            <a:schemeClr val="tx1"/>
          </a:solidFill>
          <a:latin typeface="+mn-lt"/>
          <a:ea typeface="+mn-ea"/>
          <a:cs typeface="+mn-cs"/>
        </a:defRPr>
      </a:lvl6pPr>
      <a:lvl7pPr marL="2760315" indent="-212332" algn="l" defTabSz="849328" rtl="0" eaLnBrk="1" latinLnBrk="0" hangingPunct="1">
        <a:lnSpc>
          <a:spcPct val="90000"/>
        </a:lnSpc>
        <a:spcBef>
          <a:spcPts val="464"/>
        </a:spcBef>
        <a:buFont typeface="Arial" panose="020B0604020202020204" pitchFamily="34" charset="0"/>
        <a:buChar char="•"/>
        <a:defRPr sz="1672" kern="1200">
          <a:solidFill>
            <a:schemeClr val="tx1"/>
          </a:solidFill>
          <a:latin typeface="+mn-lt"/>
          <a:ea typeface="+mn-ea"/>
          <a:cs typeface="+mn-cs"/>
        </a:defRPr>
      </a:lvl7pPr>
      <a:lvl8pPr marL="3184978" indent="-212332" algn="l" defTabSz="849328" rtl="0" eaLnBrk="1" latinLnBrk="0" hangingPunct="1">
        <a:lnSpc>
          <a:spcPct val="90000"/>
        </a:lnSpc>
        <a:spcBef>
          <a:spcPts val="464"/>
        </a:spcBef>
        <a:buFont typeface="Arial" panose="020B0604020202020204" pitchFamily="34" charset="0"/>
        <a:buChar char="•"/>
        <a:defRPr sz="1672" kern="1200">
          <a:solidFill>
            <a:schemeClr val="tx1"/>
          </a:solidFill>
          <a:latin typeface="+mn-lt"/>
          <a:ea typeface="+mn-ea"/>
          <a:cs typeface="+mn-cs"/>
        </a:defRPr>
      </a:lvl8pPr>
      <a:lvl9pPr marL="3609642" indent="-212332" algn="l" defTabSz="849328" rtl="0" eaLnBrk="1" latinLnBrk="0" hangingPunct="1">
        <a:lnSpc>
          <a:spcPct val="90000"/>
        </a:lnSpc>
        <a:spcBef>
          <a:spcPts val="464"/>
        </a:spcBef>
        <a:buFont typeface="Arial" panose="020B0604020202020204" pitchFamily="34" charset="0"/>
        <a:buChar char="•"/>
        <a:defRPr sz="16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9328" rtl="0" eaLnBrk="1" latinLnBrk="0" hangingPunct="1">
        <a:defRPr sz="1672" kern="1200">
          <a:solidFill>
            <a:schemeClr val="tx1"/>
          </a:solidFill>
          <a:latin typeface="+mn-lt"/>
          <a:ea typeface="+mn-ea"/>
          <a:cs typeface="+mn-cs"/>
        </a:defRPr>
      </a:lvl1pPr>
      <a:lvl2pPr marL="424664" algn="l" defTabSz="849328" rtl="0" eaLnBrk="1" latinLnBrk="0" hangingPunct="1">
        <a:defRPr sz="1672" kern="1200">
          <a:solidFill>
            <a:schemeClr val="tx1"/>
          </a:solidFill>
          <a:latin typeface="+mn-lt"/>
          <a:ea typeface="+mn-ea"/>
          <a:cs typeface="+mn-cs"/>
        </a:defRPr>
      </a:lvl2pPr>
      <a:lvl3pPr marL="849328" algn="l" defTabSz="849328" rtl="0" eaLnBrk="1" latinLnBrk="0" hangingPunct="1">
        <a:defRPr sz="1672" kern="1200">
          <a:solidFill>
            <a:schemeClr val="tx1"/>
          </a:solidFill>
          <a:latin typeface="+mn-lt"/>
          <a:ea typeface="+mn-ea"/>
          <a:cs typeface="+mn-cs"/>
        </a:defRPr>
      </a:lvl3pPr>
      <a:lvl4pPr marL="1273992" algn="l" defTabSz="849328" rtl="0" eaLnBrk="1" latinLnBrk="0" hangingPunct="1">
        <a:defRPr sz="1672" kern="1200">
          <a:solidFill>
            <a:schemeClr val="tx1"/>
          </a:solidFill>
          <a:latin typeface="+mn-lt"/>
          <a:ea typeface="+mn-ea"/>
          <a:cs typeface="+mn-cs"/>
        </a:defRPr>
      </a:lvl4pPr>
      <a:lvl5pPr marL="1698655" algn="l" defTabSz="849328" rtl="0" eaLnBrk="1" latinLnBrk="0" hangingPunct="1">
        <a:defRPr sz="1672" kern="1200">
          <a:solidFill>
            <a:schemeClr val="tx1"/>
          </a:solidFill>
          <a:latin typeface="+mn-lt"/>
          <a:ea typeface="+mn-ea"/>
          <a:cs typeface="+mn-cs"/>
        </a:defRPr>
      </a:lvl5pPr>
      <a:lvl6pPr marL="2123319" algn="l" defTabSz="849328" rtl="0" eaLnBrk="1" latinLnBrk="0" hangingPunct="1">
        <a:defRPr sz="1672" kern="1200">
          <a:solidFill>
            <a:schemeClr val="tx1"/>
          </a:solidFill>
          <a:latin typeface="+mn-lt"/>
          <a:ea typeface="+mn-ea"/>
          <a:cs typeface="+mn-cs"/>
        </a:defRPr>
      </a:lvl6pPr>
      <a:lvl7pPr marL="2547983" algn="l" defTabSz="849328" rtl="0" eaLnBrk="1" latinLnBrk="0" hangingPunct="1">
        <a:defRPr sz="1672" kern="1200">
          <a:solidFill>
            <a:schemeClr val="tx1"/>
          </a:solidFill>
          <a:latin typeface="+mn-lt"/>
          <a:ea typeface="+mn-ea"/>
          <a:cs typeface="+mn-cs"/>
        </a:defRPr>
      </a:lvl7pPr>
      <a:lvl8pPr marL="2972646" algn="l" defTabSz="849328" rtl="0" eaLnBrk="1" latinLnBrk="0" hangingPunct="1">
        <a:defRPr sz="1672" kern="1200">
          <a:solidFill>
            <a:schemeClr val="tx1"/>
          </a:solidFill>
          <a:latin typeface="+mn-lt"/>
          <a:ea typeface="+mn-ea"/>
          <a:cs typeface="+mn-cs"/>
        </a:defRPr>
      </a:lvl8pPr>
      <a:lvl9pPr marL="3397310" algn="l" defTabSz="849328" rtl="0" eaLnBrk="1" latinLnBrk="0" hangingPunct="1">
        <a:defRPr sz="16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81">
          <p15:clr>
            <a:srgbClr val="F26B43"/>
          </p15:clr>
        </p15:guide>
        <p15:guide id="2" pos="360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8866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1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jpeg"/><Relationship Id="rId5" Type="http://schemas.openxmlformats.org/officeDocument/2006/relationships/image" Target="../media/image5.png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ngchain.com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groq.com/" TargetMode="External"/><Relationship Id="rId5" Type="http://schemas.openxmlformats.org/officeDocument/2006/relationships/hyperlink" Target="https://github.com/facebookresearch/faiss" TargetMode="External"/><Relationship Id="rId4" Type="http://schemas.openxmlformats.org/officeDocument/2006/relationships/hyperlink" Target="https://huggingface.co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AAD14-DF38-9B8A-07AF-02BF5753C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9634" y="2194560"/>
            <a:ext cx="6408782" cy="1920240"/>
          </a:xfrm>
        </p:spPr>
        <p:txBody>
          <a:bodyPr/>
          <a:lstStyle/>
          <a:p>
            <a:pPr>
              <a:lnSpc>
                <a:spcPts val="4797"/>
              </a:lnSpc>
            </a:pPr>
            <a:r>
              <a:rPr lang="en-US" dirty="0"/>
              <a:t>Hack the Future:</a:t>
            </a:r>
          </a:p>
          <a:p>
            <a:pPr>
              <a:lnSpc>
                <a:spcPts val="4797"/>
              </a:lnSpc>
            </a:pPr>
            <a:r>
              <a:rPr lang="en-US" dirty="0"/>
              <a:t>A Gen AI Sprint </a:t>
            </a:r>
            <a:br>
              <a:rPr lang="en-US" dirty="0"/>
            </a:br>
            <a:r>
              <a:rPr lang="en-US" dirty="0"/>
              <a:t>Powered by Data</a:t>
            </a:r>
          </a:p>
        </p:txBody>
      </p:sp>
    </p:spTree>
    <p:extLst>
      <p:ext uri="{BB962C8B-B14F-4D97-AF65-F5344CB8AC3E}">
        <p14:creationId xmlns:p14="http://schemas.microsoft.com/office/powerpoint/2010/main" val="3794445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6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 descr="5.png"/>
          <p:cNvPicPr preferRelativeResize="0"/>
          <p:nvPr/>
        </p:nvPicPr>
        <p:blipFill rotWithShape="1">
          <a:blip r:embed="rId3">
            <a:alphaModFix/>
          </a:blip>
          <a:srcRect l="37699" t="55828" r="25355"/>
          <a:stretch/>
        </p:blipFill>
        <p:spPr>
          <a:xfrm>
            <a:off x="-18005" y="-13189"/>
            <a:ext cx="5881517" cy="3955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4" descr="5.png"/>
          <p:cNvPicPr preferRelativeResize="0"/>
          <p:nvPr/>
        </p:nvPicPr>
        <p:blipFill rotWithShape="1">
          <a:blip r:embed="rId3">
            <a:alphaModFix amt="55980"/>
          </a:blip>
          <a:srcRect l="12849" r="46909" b="51453"/>
          <a:stretch/>
        </p:blipFill>
        <p:spPr>
          <a:xfrm>
            <a:off x="5267499" y="2166593"/>
            <a:ext cx="6914227" cy="469192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/>
        </p:nvSpPr>
        <p:spPr>
          <a:xfrm>
            <a:off x="1325000" y="3014543"/>
            <a:ext cx="9746921" cy="306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</a:pPr>
            <a:r>
              <a:rPr lang="en-GB" sz="2533" kern="0" dirty="0">
                <a:solidFill>
                  <a:srgbClr val="FFFFFF"/>
                </a:solidFill>
                <a:latin typeface="Graphik" panose="020B0503030202060203" pitchFamily="34" charset="0"/>
                <a:ea typeface="Google Sans"/>
                <a:cs typeface="Google Sans"/>
                <a:sym typeface="Google Sans"/>
              </a:rPr>
              <a:t>The template should consist of the following and it is mandated to be used by your team for submitting your innovative ideas/solutions.</a:t>
            </a:r>
            <a:br>
              <a:rPr lang="en-GB" sz="2533" kern="0" dirty="0">
                <a:solidFill>
                  <a:srgbClr val="FFFFFF"/>
                </a:solidFill>
                <a:latin typeface="Graphik" panose="020B0503030202060203" pitchFamily="34" charset="0"/>
                <a:ea typeface="Google Sans"/>
                <a:cs typeface="Google Sans"/>
                <a:sym typeface="Google Sans"/>
              </a:rPr>
            </a:br>
            <a:br>
              <a:rPr lang="en-GB" sz="2533" kern="0" dirty="0">
                <a:solidFill>
                  <a:srgbClr val="FFFFFF"/>
                </a:solidFill>
                <a:latin typeface="Graphik" panose="020B0503030202060203" pitchFamily="34" charset="0"/>
                <a:ea typeface="Google Sans"/>
                <a:cs typeface="Google Sans"/>
                <a:sym typeface="Google Sans"/>
              </a:rPr>
            </a:br>
            <a:r>
              <a:rPr lang="en-US" sz="2533" kern="0" dirty="0">
                <a:solidFill>
                  <a:srgbClr val="FFFFFF"/>
                </a:solidFill>
                <a:latin typeface="Graphik" panose="020B0503030202060203" pitchFamily="34" charset="0"/>
                <a:ea typeface="Google Sans"/>
                <a:cs typeface="Google Sans"/>
                <a:sym typeface="Google Sans"/>
              </a:rPr>
              <a:t>Follow file naming format: Team </a:t>
            </a:r>
            <a:r>
              <a:rPr lang="en-US" sz="2533" kern="0" dirty="0" err="1">
                <a:solidFill>
                  <a:srgbClr val="FFFFFF"/>
                </a:solidFill>
                <a:latin typeface="Graphik" panose="020B0503030202060203" pitchFamily="34" charset="0"/>
                <a:ea typeface="Google Sans"/>
                <a:cs typeface="Google Sans"/>
                <a:sym typeface="Google Sans"/>
              </a:rPr>
              <a:t>name_Idea</a:t>
            </a:r>
            <a:r>
              <a:rPr lang="en-US" sz="2533" kern="0" dirty="0">
                <a:solidFill>
                  <a:srgbClr val="FFFFFF"/>
                </a:solidFill>
                <a:latin typeface="Graphik" panose="020B0503030202060203" pitchFamily="34" charset="0"/>
                <a:ea typeface="Google Sans"/>
                <a:cs typeface="Google Sans"/>
                <a:sym typeface="Google Sans"/>
              </a:rPr>
              <a:t> Name.pptx</a:t>
            </a:r>
          </a:p>
          <a:p>
            <a:pPr defTabSz="1219170">
              <a:lnSpc>
                <a:spcPct val="115000"/>
              </a:lnSpc>
              <a:buClr>
                <a:srgbClr val="000000"/>
              </a:buClr>
            </a:pPr>
            <a:endParaRPr sz="2533" kern="0" dirty="0">
              <a:solidFill>
                <a:srgbClr val="FFFFFF"/>
              </a:solidFill>
              <a:latin typeface="Graphik" panose="020B0503030202060203" pitchFamily="34" charset="0"/>
              <a:ea typeface="Google Sans"/>
              <a:cs typeface="Google Sans"/>
              <a:sym typeface="Google Sans"/>
            </a:endParaRPr>
          </a:p>
          <a:p>
            <a:pPr defTabSz="1219170">
              <a:lnSpc>
                <a:spcPct val="115000"/>
              </a:lnSpc>
              <a:buClr>
                <a:srgbClr val="000000"/>
              </a:buClr>
            </a:pPr>
            <a:endParaRPr lang="en-US" sz="2533" kern="0" dirty="0">
              <a:solidFill>
                <a:srgbClr val="FFFFFF"/>
              </a:solidFill>
              <a:latin typeface="Graphik" panose="020B0503030202060203" pitchFamily="34" charset="0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1325000" y="2166600"/>
            <a:ext cx="6842649" cy="84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noAutofit/>
          </a:bodyPr>
          <a:lstStyle/>
          <a:p>
            <a:pPr defTabSz="1219170">
              <a:lnSpc>
                <a:spcPct val="80000"/>
              </a:lnSpc>
              <a:buClr>
                <a:srgbClr val="000000"/>
              </a:buClr>
              <a:buSzPts val="1100"/>
            </a:pPr>
            <a:r>
              <a:rPr lang="en-GB" sz="7333" kern="0" dirty="0">
                <a:solidFill>
                  <a:srgbClr val="FFFFFF"/>
                </a:solidFill>
                <a:latin typeface="Graphik" panose="020B0503030202060203" pitchFamily="34" charset="0"/>
                <a:ea typeface="Google Sans SemiBold"/>
                <a:cs typeface="Google Sans SemiBold"/>
                <a:sym typeface="Google Sans SemiBold"/>
              </a:rPr>
              <a:t>Guidelines</a:t>
            </a:r>
            <a:endParaRPr sz="2933" kern="0" dirty="0">
              <a:solidFill>
                <a:srgbClr val="FFFFFF"/>
              </a:solidFill>
              <a:latin typeface="Graphik" panose="020B0503030202060203" pitchFamily="34" charset="0"/>
              <a:ea typeface="Google Sans SemiBold"/>
              <a:cs typeface="Google Sans SemiBold"/>
              <a:sym typeface="Google Sans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-8200" y="6686400"/>
            <a:ext cx="12208400" cy="171600"/>
          </a:xfrm>
          <a:prstGeom prst="rect">
            <a:avLst/>
          </a:prstGeom>
          <a:gradFill>
            <a:gsLst>
              <a:gs pos="0">
                <a:srgbClr val="3754A9"/>
              </a:gs>
              <a:gs pos="100000">
                <a:srgbClr val="6F21A8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2400" kern="0">
              <a:solidFill>
                <a:srgbClr val="000000"/>
              </a:solidFill>
              <a:latin typeface="Graphik" panose="020B0503030202060203" pitchFamily="34" charset="0"/>
              <a:cs typeface="Arial"/>
              <a:sym typeface="Arial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-16400" y="2365236"/>
            <a:ext cx="12208400" cy="171600"/>
          </a:xfrm>
          <a:prstGeom prst="rect">
            <a:avLst/>
          </a:prstGeom>
          <a:gradFill>
            <a:gsLst>
              <a:gs pos="0">
                <a:srgbClr val="3754A9"/>
              </a:gs>
              <a:gs pos="100000">
                <a:srgbClr val="6F21A8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2400" kern="0">
              <a:solidFill>
                <a:srgbClr val="000000"/>
              </a:solidFill>
              <a:latin typeface="Graphik" panose="020B0503030202060203" pitchFamily="34" charset="0"/>
              <a:cs typeface="Arial"/>
              <a:sym typeface="Arial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86877"/>
          <a:stretch/>
        </p:blipFill>
        <p:spPr>
          <a:xfrm>
            <a:off x="1" y="0"/>
            <a:ext cx="12192004" cy="899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bright light in the sky&#10;&#10;AI-generated content may be incorrect.">
            <a:extLst>
              <a:ext uri="{FF2B5EF4-FFF2-40B4-BE49-F238E27FC236}">
                <a16:creationId xmlns:a16="http://schemas.microsoft.com/office/drawing/2014/main" id="{FE4E1242-A2E1-CE79-930C-1CDFA9834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237066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52ED2C4-F73E-CF5A-BF7C-0A430F065734}"/>
              </a:ext>
            </a:extLst>
          </p:cNvPr>
          <p:cNvGrpSpPr/>
          <p:nvPr/>
        </p:nvGrpSpPr>
        <p:grpSpPr>
          <a:xfrm>
            <a:off x="1482400" y="1655833"/>
            <a:ext cx="2966257" cy="440017"/>
            <a:chOff x="415600" y="1568886"/>
            <a:chExt cx="2966257" cy="44001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8BFF640-EAAB-CF3A-4C85-790407726C03}"/>
                </a:ext>
              </a:extLst>
            </p:cNvPr>
            <p:cNvSpPr/>
            <p:nvPr/>
          </p:nvSpPr>
          <p:spPr>
            <a:xfrm>
              <a:off x="415600" y="1568886"/>
              <a:ext cx="2966257" cy="440017"/>
            </a:xfrm>
            <a:prstGeom prst="rect">
              <a:avLst/>
            </a:prstGeom>
            <a:solidFill>
              <a:schemeClr val="bg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0C1551D-3641-BAF5-9579-63C60DB1ED33}"/>
                </a:ext>
              </a:extLst>
            </p:cNvPr>
            <p:cNvSpPr txBox="1"/>
            <p:nvPr/>
          </p:nvSpPr>
          <p:spPr>
            <a:xfrm>
              <a:off x="633859" y="1604228"/>
              <a:ext cx="2579004" cy="33855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0" i="0" dirty="0">
                  <a:solidFill>
                    <a:srgbClr val="EBB0FE"/>
                  </a:solidFill>
                  <a:latin typeface="Graphik Medium" panose="020B0503030202060203" pitchFamily="34" charset="77"/>
                </a:rPr>
                <a:t>Data and AI Week</a:t>
              </a:r>
            </a:p>
          </p:txBody>
        </p:sp>
      </p:grpSp>
      <p:pic>
        <p:nvPicPr>
          <p:cNvPr id="5" name="Picture 4" descr="A white arrow on a black background&#10;&#10;AI-generated content may be incorrect.">
            <a:extLst>
              <a:ext uri="{FF2B5EF4-FFF2-40B4-BE49-F238E27FC236}">
                <a16:creationId xmlns:a16="http://schemas.microsoft.com/office/drawing/2014/main" id="{5F713958-C4C7-780B-FFFD-8F410CF448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07" y="602264"/>
            <a:ext cx="713410" cy="78684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8A4F854-78AF-BC25-0565-685458E792EF}"/>
              </a:ext>
            </a:extLst>
          </p:cNvPr>
          <p:cNvSpPr/>
          <p:nvPr/>
        </p:nvSpPr>
        <p:spPr>
          <a:xfrm>
            <a:off x="924152" y="4315279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14" name="Picture Placeholder 75">
            <a:extLst>
              <a:ext uri="{FF2B5EF4-FFF2-40B4-BE49-F238E27FC236}">
                <a16:creationId xmlns:a16="http://schemas.microsoft.com/office/drawing/2014/main" id="{E1450585-6EEC-BB84-99B7-41D3C2833CE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7425" y="4214472"/>
            <a:ext cx="1434219" cy="1471323"/>
          </a:xfrm>
          <a:prstGeom prst="rect">
            <a:avLst/>
          </a:prstGeom>
        </p:spPr>
      </p:pic>
      <p:sp>
        <p:nvSpPr>
          <p:cNvPr id="15" name="Text Placeholder 27">
            <a:extLst>
              <a:ext uri="{FF2B5EF4-FFF2-40B4-BE49-F238E27FC236}">
                <a16:creationId xmlns:a16="http://schemas.microsoft.com/office/drawing/2014/main" id="{4E6E6483-22B8-8DE4-F4D4-3D22A89DA1A7}"/>
              </a:ext>
            </a:extLst>
          </p:cNvPr>
          <p:cNvSpPr txBox="1">
            <a:spLocks/>
          </p:cNvSpPr>
          <p:nvPr/>
        </p:nvSpPr>
        <p:spPr>
          <a:xfrm>
            <a:off x="2709050" y="3907614"/>
            <a:ext cx="3177007" cy="81116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Meeturi Ajay Kumar </a:t>
            </a:r>
            <a:br>
              <a:rPr lang="en-GB" sz="2000" dirty="0">
                <a:latin typeface="Graphik"/>
              </a:rPr>
            </a:b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(Team Leader)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EEB873-68EC-21FA-6C9C-02DF57531577}"/>
              </a:ext>
            </a:extLst>
          </p:cNvPr>
          <p:cNvSpPr/>
          <p:nvPr/>
        </p:nvSpPr>
        <p:spPr>
          <a:xfrm>
            <a:off x="6630036" y="4315279"/>
            <a:ext cx="1481237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Photo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E780D7-8359-373C-8C58-C27EB0044A3A}"/>
              </a:ext>
            </a:extLst>
          </p:cNvPr>
          <p:cNvCxnSpPr/>
          <p:nvPr/>
        </p:nvCxnSpPr>
        <p:spPr>
          <a:xfrm>
            <a:off x="2694666" y="48189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Placeholder 75">
            <a:extLst>
              <a:ext uri="{FF2B5EF4-FFF2-40B4-BE49-F238E27FC236}">
                <a16:creationId xmlns:a16="http://schemas.microsoft.com/office/drawing/2014/main" id="{6C7C6447-C3A7-8373-190C-583E8C3360E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63843" y="4214472"/>
            <a:ext cx="1434219" cy="1471323"/>
          </a:xfrm>
          <a:prstGeom prst="rect">
            <a:avLst/>
          </a:prstGeom>
        </p:spPr>
      </p:pic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D04596E6-8892-485C-27A3-05953A7C9A22}"/>
              </a:ext>
            </a:extLst>
          </p:cNvPr>
          <p:cNvSpPr txBox="1">
            <a:spLocks/>
          </p:cNvSpPr>
          <p:nvPr/>
        </p:nvSpPr>
        <p:spPr>
          <a:xfrm>
            <a:off x="8366900" y="3907614"/>
            <a:ext cx="3177007" cy="81116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Aitha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Riyesh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</a:p>
        </p:txBody>
      </p:sp>
      <p:sp>
        <p:nvSpPr>
          <p:cNvPr id="25" name="Title 17">
            <a:extLst>
              <a:ext uri="{FF2B5EF4-FFF2-40B4-BE49-F238E27FC236}">
                <a16:creationId xmlns:a16="http://schemas.microsoft.com/office/drawing/2014/main" id="{9240FEF2-AAA6-406E-1BEC-B220846E54E6}"/>
              </a:ext>
            </a:extLst>
          </p:cNvPr>
          <p:cNvSpPr txBox="1">
            <a:spLocks/>
          </p:cNvSpPr>
          <p:nvPr/>
        </p:nvSpPr>
        <p:spPr>
          <a:xfrm>
            <a:off x="255225" y="2867440"/>
            <a:ext cx="11430000" cy="72643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kern="0" dirty="0">
                <a:latin typeface="Graphik" panose="020B0503030202060203" pitchFamily="34" charset="0"/>
              </a:rPr>
              <a:t>Team details</a:t>
            </a:r>
            <a:endParaRPr lang="en-GB" b="1" kern="0" dirty="0">
              <a:latin typeface="Graphik" panose="020B0503030202060203" pitchFamily="34" charset="0"/>
            </a:endParaRPr>
          </a:p>
        </p:txBody>
      </p:sp>
      <p:graphicFrame>
        <p:nvGraphicFramePr>
          <p:cNvPr id="26" name="Table 2">
            <a:extLst>
              <a:ext uri="{FF2B5EF4-FFF2-40B4-BE49-F238E27FC236}">
                <a16:creationId xmlns:a16="http://schemas.microsoft.com/office/drawing/2014/main" id="{8E054308-2CF0-5FCF-1076-92BF42D93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155280"/>
              </p:ext>
            </p:extLst>
          </p:nvPr>
        </p:nvGraphicFramePr>
        <p:xfrm>
          <a:off x="319038" y="3342942"/>
          <a:ext cx="11617737" cy="37845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82355">
                  <a:extLst>
                    <a:ext uri="{9D8B030D-6E8A-4147-A177-3AD203B41FA5}">
                      <a16:colId xmlns:a16="http://schemas.microsoft.com/office/drawing/2014/main" val="129918070"/>
                    </a:ext>
                  </a:extLst>
                </a:gridCol>
                <a:gridCol w="7235382">
                  <a:extLst>
                    <a:ext uri="{9D8B030D-6E8A-4147-A177-3AD203B41FA5}">
                      <a16:colId xmlns:a16="http://schemas.microsoft.com/office/drawing/2014/main" val="1188269312"/>
                    </a:ext>
                  </a:extLst>
                </a:gridCol>
              </a:tblGrid>
              <a:tr h="37845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A100FF"/>
                          </a:solidFill>
                        </a:rPr>
                        <a:t>TEAM NAME: Zeal Gen AI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12452"/>
                  </a:ext>
                </a:extLst>
              </a:tr>
            </a:tbl>
          </a:graphicData>
        </a:graphic>
      </p:graphicFrame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A76A20A-7BD6-686D-E50A-3F3B987047E1}"/>
              </a:ext>
            </a:extLst>
          </p:cNvPr>
          <p:cNvCxnSpPr/>
          <p:nvPr/>
        </p:nvCxnSpPr>
        <p:spPr>
          <a:xfrm>
            <a:off x="8366900" y="4799296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3F1F646-1803-1F15-C7A9-B2F81812B2C2}"/>
              </a:ext>
            </a:extLst>
          </p:cNvPr>
          <p:cNvSpPr txBox="1">
            <a:spLocks/>
          </p:cNvSpPr>
          <p:nvPr/>
        </p:nvSpPr>
        <p:spPr>
          <a:xfrm>
            <a:off x="1390468" y="440837"/>
            <a:ext cx="5492195" cy="135298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ts val="2797"/>
              </a:lnSpc>
            </a:pPr>
            <a:r>
              <a:rPr lang="en-US" sz="3200" kern="0" dirty="0">
                <a:solidFill>
                  <a:schemeClr val="bg1"/>
                </a:solidFill>
                <a:latin typeface="Graphik Semibold" panose="020B0703030202060203" pitchFamily="34" charset="0"/>
              </a:rPr>
              <a:t>Hack the Future: </a:t>
            </a:r>
            <a:br>
              <a:rPr lang="en-US" sz="3200" kern="0" dirty="0">
                <a:solidFill>
                  <a:schemeClr val="bg1"/>
                </a:solidFill>
                <a:latin typeface="Graphik Semibold" panose="020B0703030202060203" pitchFamily="34" charset="0"/>
              </a:rPr>
            </a:br>
            <a:r>
              <a:rPr lang="en-US" sz="3200" kern="0" dirty="0">
                <a:solidFill>
                  <a:schemeClr val="bg1"/>
                </a:solidFill>
                <a:latin typeface="Graphik Semibold" panose="020B0703030202060203" pitchFamily="34" charset="0"/>
              </a:rPr>
              <a:t>A Gen AI Sprint </a:t>
            </a:r>
            <a:br>
              <a:rPr lang="en-US" sz="3200" kern="0" dirty="0">
                <a:solidFill>
                  <a:schemeClr val="bg1"/>
                </a:solidFill>
                <a:latin typeface="Graphik Semibold" panose="020B0703030202060203" pitchFamily="34" charset="0"/>
              </a:rPr>
            </a:br>
            <a:r>
              <a:rPr lang="en-US" sz="3200" kern="0" dirty="0">
                <a:solidFill>
                  <a:schemeClr val="bg1"/>
                </a:solidFill>
                <a:latin typeface="Graphik Semibold" panose="020B0703030202060203" pitchFamily="34" charset="0"/>
              </a:rPr>
              <a:t>Powered by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7B5EB6-27AA-95B1-5800-7B91BC3302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425" y="4214472"/>
            <a:ext cx="1434219" cy="14903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F08B4D-3FFE-2493-2F59-56B1AE3765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843" y="4214472"/>
            <a:ext cx="1434219" cy="14713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8;p14">
            <a:extLst>
              <a:ext uri="{FF2B5EF4-FFF2-40B4-BE49-F238E27FC236}">
                <a16:creationId xmlns:a16="http://schemas.microsoft.com/office/drawing/2014/main" id="{321B8FFC-3ACD-A63B-7FE8-C3E8D22CF879}"/>
              </a:ext>
            </a:extLst>
          </p:cNvPr>
          <p:cNvSpPr txBox="1"/>
          <p:nvPr/>
        </p:nvSpPr>
        <p:spPr>
          <a:xfrm>
            <a:off x="323868" y="352567"/>
            <a:ext cx="11233753" cy="846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noAutofit/>
          </a:bodyPr>
          <a:lstStyle/>
          <a:p>
            <a:pPr defTabSz="1219170">
              <a:lnSpc>
                <a:spcPct val="80000"/>
              </a:lnSpc>
              <a:buClr>
                <a:srgbClr val="000000"/>
              </a:buClr>
              <a:buSzPts val="1100"/>
            </a:pPr>
            <a:r>
              <a:rPr lang="en-GB" sz="2667" b="1" kern="0" dirty="0">
                <a:solidFill>
                  <a:srgbClr val="000000"/>
                </a:solidFill>
                <a:latin typeface="Graphik" panose="020B0503030202060203" pitchFamily="34" charset="0"/>
                <a:ea typeface="Google Sans SemiBold"/>
                <a:cs typeface="Google Sans SemiBold"/>
                <a:sym typeface="Google Sans SemiBold"/>
              </a:rPr>
              <a:t>Entry Submission Summary</a:t>
            </a:r>
            <a:endParaRPr sz="1200" b="1" kern="0" dirty="0">
              <a:solidFill>
                <a:srgbClr val="000000"/>
              </a:solidFill>
              <a:latin typeface="Graphik" panose="020B0503030202060203" pitchFamily="34" charset="0"/>
              <a:ea typeface="Google Sans SemiBold"/>
              <a:cs typeface="Google Sans SemiBold"/>
              <a:sym typeface="Google Sans SemiBold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30E63F-7543-6F17-0E7C-48BE4A302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679976"/>
              </p:ext>
            </p:extLst>
          </p:nvPr>
        </p:nvGraphicFramePr>
        <p:xfrm>
          <a:off x="323868" y="775972"/>
          <a:ext cx="11544264" cy="5604510"/>
        </p:xfrm>
        <a:graphic>
          <a:graphicData uri="http://schemas.openxmlformats.org/drawingml/2006/table">
            <a:tbl>
              <a:tblPr bandRow="1">
                <a:tableStyleId>{B301B821-A1FF-4177-AEE7-76D212191A09}</a:tableStyleId>
              </a:tblPr>
              <a:tblGrid>
                <a:gridCol w="2907429">
                  <a:extLst>
                    <a:ext uri="{9D8B030D-6E8A-4147-A177-3AD203B41FA5}">
                      <a16:colId xmlns:a16="http://schemas.microsoft.com/office/drawing/2014/main" val="562209318"/>
                    </a:ext>
                  </a:extLst>
                </a:gridCol>
                <a:gridCol w="8636835">
                  <a:extLst>
                    <a:ext uri="{9D8B030D-6E8A-4147-A177-3AD203B41FA5}">
                      <a16:colId xmlns:a16="http://schemas.microsoft.com/office/drawing/2014/main" val="400706380"/>
                    </a:ext>
                  </a:extLst>
                </a:gridCol>
              </a:tblGrid>
              <a:tr h="82867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Graphik" panose="020B0503030202060203" pitchFamily="34" charset="0"/>
                        </a:rPr>
                        <a:t>Idea Title</a:t>
                      </a:r>
                      <a:br>
                        <a:rPr lang="en-US" dirty="0">
                          <a:latin typeface="Graphik" panose="020B0503030202060203" pitchFamily="34" charset="0"/>
                        </a:rPr>
                      </a:b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Graphik" panose="020B0503030202060203" pitchFamily="34" charset="0"/>
                          <a:ea typeface="+mn-ea"/>
                          <a:cs typeface="+mn-cs"/>
                          <a:sym typeface="Arial"/>
                        </a:rPr>
                        <a:t>(Provide a concise and impactful title for your idea.)</a:t>
                      </a:r>
                      <a:endParaRPr lang="en-US" dirty="0">
                        <a:latin typeface="Graphik" panose="020B050303020206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9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TalentSync</a:t>
                      </a: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AI - Intelligent Multi-Agent System for Automated Job-CV Screening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9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812125"/>
                  </a:ext>
                </a:extLst>
              </a:tr>
              <a:tr h="81676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Graphik" panose="020B0503030202060203" pitchFamily="34" charset="0"/>
                        </a:rPr>
                        <a:t>Team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67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Zeal Gen AI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9433584"/>
                  </a:ext>
                </a:extLst>
              </a:tr>
              <a:tr h="184070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Graphik" panose="020B0503030202060203" pitchFamily="34" charset="0"/>
                        </a:rPr>
                        <a:t>Problem Statement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9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Statement 5: </a:t>
                      </a:r>
                      <a:r>
                        <a:rPr lang="en-US" sz="1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Job Screening with AI and Data Intelligence</a:t>
                      </a:r>
                      <a:endParaRPr lang="en-US" sz="19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9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recruitment process often involves manually reviewing numerous job descriptions (JDs) and CVs, which can be time-consuming and prone to human error. The goal of this hackathon is to develop a multi-agentic AI system that can automatically read and summarize job descriptions (JDs), match candidate qualifications with the JD, shortlist candidates, and send interview requests based on the match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9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743077"/>
                  </a:ext>
                </a:extLst>
              </a:tr>
              <a:tr h="178117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Graphik" panose="020B0503030202060203" pitchFamily="34" charset="0"/>
                        </a:rPr>
                        <a:t>Proposed 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LangChain</a:t>
                      </a: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-powered pipeline with four agents: JD summarizer, CV processor, eligibility evaluator, and email notifier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JD Agent </a:t>
                      </a:r>
                      <a:r>
                        <a:rPr lang="en-IN" sz="1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distills</a:t>
                      </a: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job descriptions into concise responsibilities and qualifications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CV Agent chunks resumes, generates embeddings with </a:t>
                      </a:r>
                      <a:r>
                        <a:rPr lang="en-IN" sz="1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HuggingFace</a:t>
                      </a: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 </a:t>
                      </a:r>
                      <a:r>
                        <a:rPr lang="en-IN" sz="1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MiniLM</a:t>
                      </a: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stores them in FAISS for fast retrieval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Eligibility Agent uses a </a:t>
                      </a:r>
                      <a:r>
                        <a:rPr lang="en-IN" sz="1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Groq</a:t>
                      </a: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LLM to decide suitability and the Email Agent automates personalized notifications.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6236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9750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-8200" y="6686400"/>
            <a:ext cx="12208400" cy="171600"/>
          </a:xfrm>
          <a:prstGeom prst="rect">
            <a:avLst/>
          </a:prstGeom>
          <a:gradFill>
            <a:gsLst>
              <a:gs pos="0">
                <a:srgbClr val="3754A9"/>
              </a:gs>
              <a:gs pos="100000">
                <a:srgbClr val="6F21A8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Google Shape;58;p14">
            <a:extLst>
              <a:ext uri="{FF2B5EF4-FFF2-40B4-BE49-F238E27FC236}">
                <a16:creationId xmlns:a16="http://schemas.microsoft.com/office/drawing/2014/main" id="{AB77DFBE-3C54-4522-B5C5-3BB4462B5C4E}"/>
              </a:ext>
            </a:extLst>
          </p:cNvPr>
          <p:cNvSpPr txBox="1"/>
          <p:nvPr/>
        </p:nvSpPr>
        <p:spPr>
          <a:xfrm>
            <a:off x="323868" y="352567"/>
            <a:ext cx="11233753" cy="846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noAutofit/>
          </a:bodyPr>
          <a:lstStyle/>
          <a:p>
            <a:pPr defTabSz="1219170">
              <a:lnSpc>
                <a:spcPct val="80000"/>
              </a:lnSpc>
              <a:buClr>
                <a:srgbClr val="000000"/>
              </a:buClr>
              <a:buSzPts val="1100"/>
            </a:pPr>
            <a:r>
              <a:rPr lang="en-GB" sz="2667" b="1" kern="0" dirty="0">
                <a:solidFill>
                  <a:srgbClr val="000000"/>
                </a:solidFill>
                <a:latin typeface="Graphik" panose="020B0503030202060203" pitchFamily="34" charset="0"/>
                <a:ea typeface="Google Sans SemiBold"/>
                <a:cs typeface="Google Sans SemiBold"/>
                <a:sym typeface="Google Sans SemiBold"/>
              </a:rPr>
              <a:t>Problem statement you are trying to address</a:t>
            </a:r>
            <a:endParaRPr sz="1200" b="1" kern="0" dirty="0">
              <a:solidFill>
                <a:srgbClr val="000000"/>
              </a:solidFill>
              <a:latin typeface="Graphik" panose="020B0503030202060203" pitchFamily="34" charset="0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843A82-5538-430A-9575-B9A30CC729F6}"/>
              </a:ext>
            </a:extLst>
          </p:cNvPr>
          <p:cNvSpPr txBox="1"/>
          <p:nvPr/>
        </p:nvSpPr>
        <p:spPr>
          <a:xfrm>
            <a:off x="323867" y="1314360"/>
            <a:ext cx="11690654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b="1" dirty="0">
                <a:solidFill>
                  <a:srgbClr val="A1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 Overview: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recruitment process often involves manually reviewing numerous job descriptions (JDs) and CVs, which can be time-consuming and prone to human error. The goal of this hackathon is to develop a multi-agentic AI system that can automatically read and summarize job descriptions (JDs), match candidate qualifications with the JD, shortlist candidates, and send interview requests based on the match</a:t>
            </a:r>
          </a:p>
          <a:p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900" b="1" dirty="0">
                <a:solidFill>
                  <a:srgbClr val="A1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Process:</a:t>
            </a:r>
            <a:endParaRPr lang="en-US" sz="19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Description Summarizer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Reads and summarizes key elements from the JD, including required skills, experience, qualifications, and job responsibilities.</a:t>
            </a:r>
          </a:p>
          <a:p>
            <a:pPr marL="285750" indent="-285750">
              <a:buFont typeface="Arial,Sans-Serif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Recruiting agent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Extracts key data from CVs, such as education, work experience, skills, certifications, and other relevant information. Compares the extracted data from the CV to the summarized JD and calculates a match score based on the relevance of the candidate's qualifications, experience, and skills.</a:t>
            </a:r>
          </a:p>
          <a:p>
            <a:pPr marL="285750" indent="-285750">
              <a:buFont typeface="Arial,Sans-Serif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Shortlisting Candidates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Based on the match score, candidates who meet or exceed a defined threshold (e.g., 80% match) are shortlisted for interviews.</a:t>
            </a:r>
          </a:p>
          <a:p>
            <a:pPr marL="285750" indent="-285750">
              <a:buFont typeface="Arial,Sans-Serif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Interview Scheduler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Sends personalized interview requests to shortlisted candidates, including potential dates, times, and interview format written in email.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CE3AB7-21F8-1F2C-FB70-6AEF87F8770C}"/>
              </a:ext>
            </a:extLst>
          </p:cNvPr>
          <p:cNvSpPr txBox="1"/>
          <p:nvPr/>
        </p:nvSpPr>
        <p:spPr>
          <a:xfrm>
            <a:off x="323867" y="818957"/>
            <a:ext cx="112337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5: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Job Screening with AI and Data Intelligence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-8200" y="6686400"/>
            <a:ext cx="12208400" cy="171600"/>
          </a:xfrm>
          <a:prstGeom prst="rect">
            <a:avLst/>
          </a:prstGeom>
          <a:gradFill>
            <a:gsLst>
              <a:gs pos="0">
                <a:srgbClr val="3754A9"/>
              </a:gs>
              <a:gs pos="100000">
                <a:srgbClr val="6F21A8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Google Shape;58;p14">
            <a:extLst>
              <a:ext uri="{FF2B5EF4-FFF2-40B4-BE49-F238E27FC236}">
                <a16:creationId xmlns:a16="http://schemas.microsoft.com/office/drawing/2014/main" id="{AB77DFBE-3C54-4522-B5C5-3BB4462B5C4E}"/>
              </a:ext>
            </a:extLst>
          </p:cNvPr>
          <p:cNvSpPr txBox="1"/>
          <p:nvPr/>
        </p:nvSpPr>
        <p:spPr>
          <a:xfrm>
            <a:off x="323868" y="352567"/>
            <a:ext cx="11233753" cy="846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noAutofit/>
          </a:bodyPr>
          <a:lstStyle/>
          <a:p>
            <a:pPr defTabSz="1219170">
              <a:lnSpc>
                <a:spcPct val="80000"/>
              </a:lnSpc>
              <a:buClr>
                <a:srgbClr val="000000"/>
              </a:buClr>
              <a:buSzPts val="1100"/>
            </a:pPr>
            <a:r>
              <a:rPr lang="en-GB" sz="2667" b="1" kern="0" dirty="0">
                <a:solidFill>
                  <a:srgbClr val="000000"/>
                </a:solidFill>
                <a:latin typeface="Graphik" panose="020B0503030202060203" pitchFamily="34" charset="0"/>
                <a:ea typeface="Google Sans SemiBold"/>
                <a:cs typeface="Google Sans SemiBold"/>
                <a:sym typeface="Google Sans SemiBold"/>
              </a:rPr>
              <a:t>Proposed Solution Overview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A0626E1-568B-FCF5-5950-837B248F2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68" y="775972"/>
            <a:ext cx="11470735" cy="5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Seamless Data Ingestion &amp; Validation</a:t>
            </a:r>
            <a:b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upload or enter job descriptions and CVs using the sidebar, where inputs are automatically checked for format and stored in versioned CSV/PDF repositories.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Intelligent Job Description Summarization</a:t>
            </a:r>
            <a:b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LLM chain ingests each JD and instantly distills it into a concise list of core responsibilities and must‑have qualifications, eliminating manual review.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Robust Resume Chunking &amp; Semantic Embedding</a:t>
            </a:r>
            <a:b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CVs are split into 500‑token segments, embedded using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HuggingFace’s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MiniLM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model, and indexed in FAISS—enabling lightning‑fast, context‑aware similarity searches.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Insightful Eligibility Evaluation</a:t>
            </a:r>
            <a:b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‑powered LLM agent compares JD summaries against CV embeddings to deliver a definitive “Suitable” or “Not Suitable” verdict, complete with transparent, criteria‑based reasoning.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Communication &amp; Modular UI</a:t>
            </a:r>
            <a:b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selection or rejection emails are dispatched via SMTP, and the entire pipeline is orchestrated through an intuitive web interface—offering real‑time feedback, scalability, and plug‑and‑play extensibility.</a:t>
            </a:r>
          </a:p>
        </p:txBody>
      </p:sp>
    </p:spTree>
    <p:extLst>
      <p:ext uri="{BB962C8B-B14F-4D97-AF65-F5344CB8AC3E}">
        <p14:creationId xmlns:p14="http://schemas.microsoft.com/office/powerpoint/2010/main" val="869363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-8200" y="6686400"/>
            <a:ext cx="12208400" cy="171600"/>
          </a:xfrm>
          <a:prstGeom prst="rect">
            <a:avLst/>
          </a:prstGeom>
          <a:gradFill>
            <a:gsLst>
              <a:gs pos="0">
                <a:srgbClr val="3754A9"/>
              </a:gs>
              <a:gs pos="100000">
                <a:srgbClr val="6F21A8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Google Shape;58;p14">
            <a:extLst>
              <a:ext uri="{FF2B5EF4-FFF2-40B4-BE49-F238E27FC236}">
                <a16:creationId xmlns:a16="http://schemas.microsoft.com/office/drawing/2014/main" id="{AB77DFBE-3C54-4522-B5C5-3BB4462B5C4E}"/>
              </a:ext>
            </a:extLst>
          </p:cNvPr>
          <p:cNvSpPr txBox="1"/>
          <p:nvPr/>
        </p:nvSpPr>
        <p:spPr>
          <a:xfrm>
            <a:off x="323868" y="352567"/>
            <a:ext cx="11233753" cy="846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noAutofit/>
          </a:bodyPr>
          <a:lstStyle/>
          <a:p>
            <a:pPr defTabSz="1219170">
              <a:lnSpc>
                <a:spcPct val="80000"/>
              </a:lnSpc>
              <a:buClr>
                <a:srgbClr val="000000"/>
              </a:buClr>
              <a:buSzPts val="1100"/>
            </a:pPr>
            <a:r>
              <a:rPr lang="en-IN" sz="2667" b="1" kern="0" dirty="0">
                <a:solidFill>
                  <a:srgbClr val="000000"/>
                </a:solidFill>
                <a:latin typeface="Graphik" panose="020B0503030202060203" pitchFamily="34" charset="0"/>
                <a:ea typeface="Google Sans SemiBold"/>
                <a:cs typeface="Google Sans SemiBold"/>
                <a:sym typeface="Arial"/>
              </a:rPr>
              <a:t>Technologies Used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67BBEB-31A6-DC99-258A-A454A1EB2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68" y="1161805"/>
            <a:ext cx="11544264" cy="5062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 &amp; Core Libraries: 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Python3.13.2,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re, base64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Back‑End &amp; Orchestration: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 3.x, Flask,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(Agents,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LLMChain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PromptTemplate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Tool API)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Front‑End: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Flask templates (HTML, JavaScript), Tailwind CSS,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Flowbite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 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ChatGroq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(mistral‑saba‑24b)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Embeddings &amp; Vector Store: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HuggingFaceEmbeddings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(MiniLM‑L6‑v2) + FAISS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 Processing: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PyPDFLoader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PDF ingestion,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RecursiveCharacterTextSplitter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chunking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 &amp; Storage: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Pandas for CSV read/write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 Management: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python‑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dotenv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secure API keys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Automation: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smtplib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email.mime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SMTP‑based notifications</a:t>
            </a:r>
          </a:p>
        </p:txBody>
      </p:sp>
    </p:spTree>
    <p:extLst>
      <p:ext uri="{BB962C8B-B14F-4D97-AF65-F5344CB8AC3E}">
        <p14:creationId xmlns:p14="http://schemas.microsoft.com/office/powerpoint/2010/main" val="3553521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-8200" y="6686400"/>
            <a:ext cx="12208400" cy="171600"/>
          </a:xfrm>
          <a:prstGeom prst="rect">
            <a:avLst/>
          </a:prstGeom>
          <a:gradFill>
            <a:gsLst>
              <a:gs pos="0">
                <a:srgbClr val="3754A9"/>
              </a:gs>
              <a:gs pos="100000">
                <a:srgbClr val="6F21A8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Google Shape;58;p14">
            <a:extLst>
              <a:ext uri="{FF2B5EF4-FFF2-40B4-BE49-F238E27FC236}">
                <a16:creationId xmlns:a16="http://schemas.microsoft.com/office/drawing/2014/main" id="{AB77DFBE-3C54-4522-B5C5-3BB4462B5C4E}"/>
              </a:ext>
            </a:extLst>
          </p:cNvPr>
          <p:cNvSpPr txBox="1"/>
          <p:nvPr/>
        </p:nvSpPr>
        <p:spPr>
          <a:xfrm>
            <a:off x="323868" y="352567"/>
            <a:ext cx="11233753" cy="846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noAutofit/>
          </a:bodyPr>
          <a:lstStyle/>
          <a:p>
            <a:pPr defTabSz="1219170">
              <a:lnSpc>
                <a:spcPct val="80000"/>
              </a:lnSpc>
              <a:buClr>
                <a:srgbClr val="000000"/>
              </a:buClr>
              <a:buSzPts val="1100"/>
            </a:pPr>
            <a:r>
              <a:rPr lang="en-IN" sz="2667" b="1" kern="0" dirty="0">
                <a:solidFill>
                  <a:srgbClr val="000000"/>
                </a:solidFill>
                <a:latin typeface="Graphik" panose="020B0503030202060203" pitchFamily="34" charset="0"/>
                <a:ea typeface="Google Sans SemiBold"/>
                <a:cs typeface="Google Sans SemiBold"/>
                <a:sym typeface="Arial"/>
              </a:rPr>
              <a:t>Agents' interaction design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40FF32-A486-E880-1421-400CC4C7DD41}"/>
              </a:ext>
            </a:extLst>
          </p:cNvPr>
          <p:cNvSpPr/>
          <p:nvPr/>
        </p:nvSpPr>
        <p:spPr>
          <a:xfrm>
            <a:off x="1169043" y="1816336"/>
            <a:ext cx="3067291" cy="8468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 AGENT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Summarizes job description into key roles &amp; must-haves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CCB201C-A9DE-4ECD-4E50-816AAF129301}"/>
              </a:ext>
            </a:extLst>
          </p:cNvPr>
          <p:cNvSpPr/>
          <p:nvPr/>
        </p:nvSpPr>
        <p:spPr>
          <a:xfrm>
            <a:off x="1169042" y="3519483"/>
            <a:ext cx="3067291" cy="8468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 AGENT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text chunks from CV and embeds them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4176A9-14A5-03DE-86CF-2F3D3E2F1C2B}"/>
              </a:ext>
            </a:extLst>
          </p:cNvPr>
          <p:cNvSpPr/>
          <p:nvPr/>
        </p:nvSpPr>
        <p:spPr>
          <a:xfrm>
            <a:off x="4919240" y="5181144"/>
            <a:ext cx="3067291" cy="8468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EMBEDDING + FAISS INDEXING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293F757-0884-B4AB-9FF1-1218DD5CC660}"/>
              </a:ext>
            </a:extLst>
          </p:cNvPr>
          <p:cNvSpPr/>
          <p:nvPr/>
        </p:nvSpPr>
        <p:spPr>
          <a:xfrm>
            <a:off x="8490329" y="3519483"/>
            <a:ext cx="3067291" cy="8468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AGENT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Outputs: "Suitable" / "Not Suitable" with reasoning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33EC28-F039-9180-D205-8F841F31DC22}"/>
              </a:ext>
            </a:extLst>
          </p:cNvPr>
          <p:cNvSpPr/>
          <p:nvPr/>
        </p:nvSpPr>
        <p:spPr>
          <a:xfrm>
            <a:off x="8490329" y="1851949"/>
            <a:ext cx="3067291" cy="8468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EMAIL AGENT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selection/rejection mail based on result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5B2D1A-72B1-1400-AFFA-4FDE9733B611}"/>
              </a:ext>
            </a:extLst>
          </p:cNvPr>
          <p:cNvSpPr txBox="1"/>
          <p:nvPr/>
        </p:nvSpPr>
        <p:spPr>
          <a:xfrm>
            <a:off x="8227042" y="640243"/>
            <a:ext cx="33305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Displayed on Website (UI)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live feedback &amp; reasoning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043531-94F5-6581-9F76-36BD6452DEC0}"/>
              </a:ext>
            </a:extLst>
          </p:cNvPr>
          <p:cNvSpPr txBox="1"/>
          <p:nvPr/>
        </p:nvSpPr>
        <p:spPr>
          <a:xfrm>
            <a:off x="986742" y="829732"/>
            <a:ext cx="6163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Uploads JD &amp; CV via Flask UI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58F1EEE9-B85B-8455-62E6-578BB845FBA8}"/>
              </a:ext>
            </a:extLst>
          </p:cNvPr>
          <p:cNvSpPr/>
          <p:nvPr/>
        </p:nvSpPr>
        <p:spPr>
          <a:xfrm>
            <a:off x="2607195" y="1331399"/>
            <a:ext cx="190983" cy="3902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E1E60028-06EA-D46E-06C5-A341532D8FDB}"/>
              </a:ext>
            </a:extLst>
          </p:cNvPr>
          <p:cNvSpPr/>
          <p:nvPr/>
        </p:nvSpPr>
        <p:spPr>
          <a:xfrm>
            <a:off x="2607195" y="2921856"/>
            <a:ext cx="190983" cy="3902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A29D0BCA-06B5-C57B-BFCA-9558C04E8BE4}"/>
              </a:ext>
            </a:extLst>
          </p:cNvPr>
          <p:cNvSpPr/>
          <p:nvPr/>
        </p:nvSpPr>
        <p:spPr>
          <a:xfrm rot="10800000">
            <a:off x="9928482" y="2873854"/>
            <a:ext cx="190983" cy="3902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460BB31F-9A16-BF2F-A5BE-D8556E26B25D}"/>
              </a:ext>
            </a:extLst>
          </p:cNvPr>
          <p:cNvSpPr/>
          <p:nvPr/>
        </p:nvSpPr>
        <p:spPr>
          <a:xfrm rot="10800000">
            <a:off x="9928779" y="1346781"/>
            <a:ext cx="190983" cy="3902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68EF99C3-CA90-E752-EB8B-1AD259557066}"/>
              </a:ext>
            </a:extLst>
          </p:cNvPr>
          <p:cNvSpPr/>
          <p:nvPr/>
        </p:nvSpPr>
        <p:spPr>
          <a:xfrm rot="5400000">
            <a:off x="2917336" y="4557806"/>
            <a:ext cx="846811" cy="1455518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Bent-Up 19">
            <a:extLst>
              <a:ext uri="{FF2B5EF4-FFF2-40B4-BE49-F238E27FC236}">
                <a16:creationId xmlns:a16="http://schemas.microsoft.com/office/drawing/2014/main" id="{262731F2-6988-FDE5-C0CD-2F7C5A5B50D2}"/>
              </a:ext>
            </a:extLst>
          </p:cNvPr>
          <p:cNvSpPr/>
          <p:nvPr/>
        </p:nvSpPr>
        <p:spPr>
          <a:xfrm>
            <a:off x="8892248" y="4862159"/>
            <a:ext cx="1455519" cy="846812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701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-8200" y="6686400"/>
            <a:ext cx="12208400" cy="171600"/>
          </a:xfrm>
          <a:prstGeom prst="rect">
            <a:avLst/>
          </a:prstGeom>
          <a:gradFill>
            <a:gsLst>
              <a:gs pos="0">
                <a:srgbClr val="3754A9"/>
              </a:gs>
              <a:gs pos="100000">
                <a:srgbClr val="6F21A8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Google Shape;58;p14">
            <a:extLst>
              <a:ext uri="{FF2B5EF4-FFF2-40B4-BE49-F238E27FC236}">
                <a16:creationId xmlns:a16="http://schemas.microsoft.com/office/drawing/2014/main" id="{AB77DFBE-3C54-4522-B5C5-3BB4462B5C4E}"/>
              </a:ext>
            </a:extLst>
          </p:cNvPr>
          <p:cNvSpPr txBox="1"/>
          <p:nvPr/>
        </p:nvSpPr>
        <p:spPr>
          <a:xfrm>
            <a:off x="323868" y="352567"/>
            <a:ext cx="11233753" cy="846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noAutofit/>
          </a:bodyPr>
          <a:lstStyle/>
          <a:p>
            <a:pPr defTabSz="1219170">
              <a:lnSpc>
                <a:spcPct val="80000"/>
              </a:lnSpc>
              <a:buClr>
                <a:srgbClr val="000000"/>
              </a:buClr>
              <a:buSzPts val="1100"/>
            </a:pPr>
            <a:r>
              <a:rPr lang="en-GB" sz="2667" b="1" kern="0" dirty="0">
                <a:solidFill>
                  <a:srgbClr val="000000"/>
                </a:solidFill>
                <a:latin typeface="Graphik" panose="020B0503030202060203" pitchFamily="34" charset="0"/>
                <a:ea typeface="Google Sans SemiBold"/>
                <a:cs typeface="Google Sans SemiBold"/>
                <a:sym typeface="Google Sans SemiBold"/>
              </a:rPr>
              <a:t>Code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BFA565-6C8D-FA38-EF26-E91D6382E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119" y="642467"/>
            <a:ext cx="6591695" cy="604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07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-8200" y="6686400"/>
            <a:ext cx="12208400" cy="171600"/>
          </a:xfrm>
          <a:prstGeom prst="rect">
            <a:avLst/>
          </a:prstGeom>
          <a:gradFill>
            <a:gsLst>
              <a:gs pos="0">
                <a:srgbClr val="3754A9"/>
              </a:gs>
              <a:gs pos="100000">
                <a:srgbClr val="6F21A8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Google Shape;58;p14">
            <a:extLst>
              <a:ext uri="{FF2B5EF4-FFF2-40B4-BE49-F238E27FC236}">
                <a16:creationId xmlns:a16="http://schemas.microsoft.com/office/drawing/2014/main" id="{AB77DFBE-3C54-4522-B5C5-3BB4462B5C4E}"/>
              </a:ext>
            </a:extLst>
          </p:cNvPr>
          <p:cNvSpPr txBox="1"/>
          <p:nvPr/>
        </p:nvSpPr>
        <p:spPr>
          <a:xfrm>
            <a:off x="323868" y="352567"/>
            <a:ext cx="11233753" cy="846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noAutofit/>
          </a:bodyPr>
          <a:lstStyle/>
          <a:p>
            <a:pPr defTabSz="1219170">
              <a:lnSpc>
                <a:spcPct val="80000"/>
              </a:lnSpc>
              <a:buClr>
                <a:srgbClr val="000000"/>
              </a:buClr>
              <a:buSzPts val="1100"/>
            </a:pPr>
            <a:r>
              <a:rPr lang="en-GB" sz="2667" b="1" kern="0" dirty="0">
                <a:solidFill>
                  <a:srgbClr val="000000"/>
                </a:solidFill>
                <a:latin typeface="Graphik" panose="020B0503030202060203" pitchFamily="34" charset="0"/>
                <a:ea typeface="Google Sans SemiBold"/>
                <a:cs typeface="Google Sans SemiBold"/>
                <a:sym typeface="Google Sans SemiBold"/>
              </a:rPr>
              <a:t>Demo video</a:t>
            </a:r>
            <a:endParaRPr sz="1200" b="1" kern="0" dirty="0">
              <a:solidFill>
                <a:srgbClr val="000000"/>
              </a:solidFill>
              <a:latin typeface="Graphik" panose="020B0503030202060203" pitchFamily="34" charset="0"/>
              <a:ea typeface="Google Sans SemiBold"/>
              <a:cs typeface="Google Sans SemiBold"/>
              <a:sym typeface="Google Sans SemiBold"/>
            </a:endParaRPr>
          </a:p>
        </p:txBody>
      </p:sp>
      <p:pic>
        <p:nvPicPr>
          <p:cNvPr id="2" name="WhatsApp Video 2025-04-11 at 15.50.56_02c0262d">
            <a:hlinkClick r:id="" action="ppaction://media"/>
            <a:extLst>
              <a:ext uri="{FF2B5EF4-FFF2-40B4-BE49-F238E27FC236}">
                <a16:creationId xmlns:a16="http://schemas.microsoft.com/office/drawing/2014/main" id="{5E3293BE-EAD3-2592-E2A8-9D714B50E87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90700" y="1143000"/>
            <a:ext cx="86106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73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142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-8200" y="6686400"/>
            <a:ext cx="12208400" cy="171600"/>
          </a:xfrm>
          <a:prstGeom prst="rect">
            <a:avLst/>
          </a:prstGeom>
          <a:gradFill>
            <a:gsLst>
              <a:gs pos="0">
                <a:srgbClr val="3754A9"/>
              </a:gs>
              <a:gs pos="100000">
                <a:srgbClr val="6F21A8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Google Shape;58;p14">
            <a:extLst>
              <a:ext uri="{FF2B5EF4-FFF2-40B4-BE49-F238E27FC236}">
                <a16:creationId xmlns:a16="http://schemas.microsoft.com/office/drawing/2014/main" id="{AB77DFBE-3C54-4522-B5C5-3BB4462B5C4E}"/>
              </a:ext>
            </a:extLst>
          </p:cNvPr>
          <p:cNvSpPr txBox="1"/>
          <p:nvPr/>
        </p:nvSpPr>
        <p:spPr>
          <a:xfrm>
            <a:off x="323868" y="352567"/>
            <a:ext cx="11233753" cy="846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noAutofit/>
          </a:bodyPr>
          <a:lstStyle/>
          <a:p>
            <a:pPr defTabSz="1219170">
              <a:lnSpc>
                <a:spcPct val="80000"/>
              </a:lnSpc>
              <a:buClr>
                <a:srgbClr val="000000"/>
              </a:buClr>
              <a:buSzPts val="1100"/>
            </a:pPr>
            <a:r>
              <a:rPr lang="en-GB" sz="2667" b="1" kern="0" dirty="0">
                <a:solidFill>
                  <a:srgbClr val="000000"/>
                </a:solidFill>
                <a:latin typeface="Graphik" panose="020B0503030202060203" pitchFamily="34" charset="0"/>
                <a:ea typeface="Google Sans SemiBold"/>
                <a:cs typeface="Google Sans SemiBold"/>
                <a:sym typeface="Google Sans SemiBold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127EEE-BD2A-29C0-6C76-D902DC680D11}"/>
              </a:ext>
            </a:extLst>
          </p:cNvPr>
          <p:cNvSpPr txBox="1"/>
          <p:nvPr/>
        </p:nvSpPr>
        <p:spPr>
          <a:xfrm>
            <a:off x="323868" y="1764245"/>
            <a:ext cx="11233752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AI-powered multi-agent solution revolutionizes the job screening process by automating resume evaluation against job descriptions with unmatched speed and accuracy. Leveraging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orchestration and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LLMs for intelligent reasoning, it eliminates manual shortlisting, reducing HR effort drastically.</a:t>
            </a:r>
          </a:p>
          <a:p>
            <a:pPr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modular design—spanning parsing, eligibility checks, evaluation, and personalized email handling—ensures scalability, maintainability, and real-world applicability. With real-time responses, transparent reasoning, and seamless UI via Flask + Tailwind CSS, the system addresses the core problem: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fast, fair, and efficient candidate screening.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482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-8200" y="6686400"/>
            <a:ext cx="12208400" cy="171600"/>
          </a:xfrm>
          <a:prstGeom prst="rect">
            <a:avLst/>
          </a:prstGeom>
          <a:gradFill>
            <a:gsLst>
              <a:gs pos="0">
                <a:srgbClr val="3754A9"/>
              </a:gs>
              <a:gs pos="100000">
                <a:srgbClr val="6F21A8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Graphik" panose="020B0503030202060203" pitchFamily="34" charset="0"/>
              <a:cs typeface="Arial"/>
              <a:sym typeface="Arial"/>
            </a:endParaRPr>
          </a:p>
        </p:txBody>
      </p:sp>
      <p:sp>
        <p:nvSpPr>
          <p:cNvPr id="3" name="Google Shape;58;p14">
            <a:extLst>
              <a:ext uri="{FF2B5EF4-FFF2-40B4-BE49-F238E27FC236}">
                <a16:creationId xmlns:a16="http://schemas.microsoft.com/office/drawing/2014/main" id="{AB77DFBE-3C54-4522-B5C5-3BB4462B5C4E}"/>
              </a:ext>
            </a:extLst>
          </p:cNvPr>
          <p:cNvSpPr txBox="1"/>
          <p:nvPr/>
        </p:nvSpPr>
        <p:spPr>
          <a:xfrm>
            <a:off x="323868" y="352567"/>
            <a:ext cx="11233753" cy="846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noAutofit/>
          </a:bodyPr>
          <a:lstStyle/>
          <a:p>
            <a:pPr defTabSz="1219170">
              <a:lnSpc>
                <a:spcPct val="80000"/>
              </a:lnSpc>
              <a:buClr>
                <a:srgbClr val="000000"/>
              </a:buClr>
              <a:buSzPts val="1100"/>
            </a:pPr>
            <a:r>
              <a:rPr lang="en-GB" sz="2667" b="1" kern="0" dirty="0">
                <a:solidFill>
                  <a:srgbClr val="000000"/>
                </a:solidFill>
                <a:latin typeface="Graphik" panose="020B0503030202060203" pitchFamily="34" charset="0"/>
                <a:ea typeface="Google Sans SemiBold"/>
                <a:cs typeface="Google Sans SemiBold"/>
                <a:sym typeface="Google Sans SemiBold"/>
              </a:rPr>
              <a:t>References/Other details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E4B64C-E64B-A1CB-980E-25D1F7885E2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23868" y="981666"/>
            <a:ext cx="1006997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orchestrating the modular agent flow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https://www.langchain.com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Transformers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For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MiniLM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embedding of textual data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https://huggingface.co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FAISS (Facebook AI Similarity Search)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fast and efficient vector indexing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https://github.com/facebookresearch/faiss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LLM API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Powers low-latency, real-time eligibility decisioning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https://groq.com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SMTP Integration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Automated email delivery for results (using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smtplib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23678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6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descr="5.png"/>
          <p:cNvPicPr preferRelativeResize="0"/>
          <p:nvPr/>
        </p:nvPicPr>
        <p:blipFill rotWithShape="1">
          <a:blip r:embed="rId3">
            <a:alphaModFix/>
          </a:blip>
          <a:srcRect l="37699" t="55828" r="25355"/>
          <a:stretch/>
        </p:blipFill>
        <p:spPr>
          <a:xfrm>
            <a:off x="-18005" y="-13189"/>
            <a:ext cx="5881517" cy="3955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descr="5.png"/>
          <p:cNvPicPr preferRelativeResize="0"/>
          <p:nvPr/>
        </p:nvPicPr>
        <p:blipFill rotWithShape="1">
          <a:blip r:embed="rId3">
            <a:alphaModFix amt="55980"/>
          </a:blip>
          <a:srcRect l="12849" r="46909" b="51453"/>
          <a:stretch/>
        </p:blipFill>
        <p:spPr>
          <a:xfrm>
            <a:off x="5267499" y="2166593"/>
            <a:ext cx="6914227" cy="469192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 txBox="1"/>
          <p:nvPr/>
        </p:nvSpPr>
        <p:spPr>
          <a:xfrm>
            <a:off x="1325000" y="2166600"/>
            <a:ext cx="4850000" cy="10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noAutofit/>
          </a:bodyPr>
          <a:lstStyle/>
          <a:p>
            <a:pPr defTabSz="1219170">
              <a:lnSpc>
                <a:spcPct val="80000"/>
              </a:lnSpc>
              <a:buClr>
                <a:srgbClr val="000000"/>
              </a:buClr>
              <a:buSzPts val="1100"/>
            </a:pPr>
            <a:r>
              <a:rPr lang="en-GB" sz="7333" kern="0" dirty="0">
                <a:solidFill>
                  <a:srgbClr val="FFFFFF"/>
                </a:solidFill>
                <a:latin typeface="Graphik" panose="020B0503030202060203" pitchFamily="34" charset="0"/>
                <a:ea typeface="Google Sans SemiBold"/>
                <a:cs typeface="Google Sans SemiBold"/>
                <a:sym typeface="Google Sans SemiBold"/>
              </a:rPr>
              <a:t>Thank You</a:t>
            </a:r>
            <a:endParaRPr sz="2933" kern="0" dirty="0">
              <a:solidFill>
                <a:srgbClr val="FFFFFF"/>
              </a:solidFill>
              <a:latin typeface="Graphik" panose="020B0503030202060203" pitchFamily="34" charset="0"/>
              <a:ea typeface="Google Sans SemiBold"/>
              <a:cs typeface="Google Sans SemiBold"/>
              <a:sym typeface="Google Sans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anvas-Theme">
  <a:themeElements>
    <a:clrScheme name="Accenture Default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355AA"/>
      </a:accent4>
      <a:accent5>
        <a:srgbClr val="BE82FF"/>
      </a:accent5>
      <a:accent6>
        <a:srgbClr val="E6DCFF"/>
      </a:accent6>
      <a:hlink>
        <a:srgbClr val="A100FF"/>
      </a:hlink>
      <a:folHlink>
        <a:srgbClr val="B455AA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/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050" b="0" i="0" u="none" strike="noStrike" kern="1200" cap="none" spc="0" normalizeH="0" baseline="0" noProof="0" dirty="0">
            <a:ln>
              <a:noFill/>
            </a:ln>
            <a:solidFill>
              <a:prstClr val="black">
                <a:alpha val="40000"/>
              </a:prstClr>
            </a:solidFill>
            <a:effectLst/>
            <a:uLnTx/>
            <a:uFillTx/>
            <a:latin typeface="Graphik" panose="020B0503030202060203" pitchFamily="34" charset="77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c_Exp_Presentation-Template_v5-2024" id="{632751DD-A84D-D849-B0B6-44CCDFA99F61}" vid="{69070162-6984-CD4F-9F36-7088033C2B3F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1082</Words>
  <Application>Microsoft Office PowerPoint</Application>
  <PresentationFormat>Widescreen</PresentationFormat>
  <Paragraphs>93</Paragraphs>
  <Slides>13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Arial</vt:lpstr>
      <vt:lpstr>Arial,Sans-Serif</vt:lpstr>
      <vt:lpstr>Graphik</vt:lpstr>
      <vt:lpstr>Graphik Light</vt:lpstr>
      <vt:lpstr>Graphik Medium</vt:lpstr>
      <vt:lpstr>Graphik Semibold</vt:lpstr>
      <vt:lpstr>Times New Roman</vt:lpstr>
      <vt:lpstr>1_Canvas-Theme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Tolentino, Ma. Antonette</dc:creator>
  <cp:lastModifiedBy>Meeturi Ajay kumar</cp:lastModifiedBy>
  <cp:revision>20</cp:revision>
  <dcterms:created xsi:type="dcterms:W3CDTF">2025-02-26T01:18:59Z</dcterms:created>
  <dcterms:modified xsi:type="dcterms:W3CDTF">2025-04-11T13:39:26Z</dcterms:modified>
</cp:coreProperties>
</file>